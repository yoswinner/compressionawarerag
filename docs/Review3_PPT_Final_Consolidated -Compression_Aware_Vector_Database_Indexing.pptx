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Bytes per 768-D Tuple / Threshold</c:v>
                </c:pt>
              </c:strCache>
            </c:strRef>
          </c:tx>
          <c:spPr>
            <a:solidFill>
              <a:srgbClr val="065A82"/>
            </a:solidFill>
            <a:ln>
              <a:noFill/>
            </a:ln>
          </c:spPr>
          <c:dLbls>
            <c:dLbl>
              <c:idx val="0"/>
              <c:tx>
                <c:rich>
                  <a:bodyPr/>
                  <a:lstStyle/>
                  <a:p>
                    <a:r>
                      <a:rPr sz="1100" b="1">
                        <a:solidFill>
                          <a:srgbClr val="1A1A2E"/>
                        </a:solidFill>
                        <a:latin typeface="Calibri"/>
                      </a:rPr>
                      <a:t>3,076 B</a:t>
                    </a:r>
                  </a:p>
                </c:rich>
              </c:tx>
              <c:dLblPos val="outEnd"/>
              <c:showLegendKey val="0"/>
              <c:showVal val="1"/>
              <c:showCatName val="0"/>
              <c:showSerName val="0"/>
              <c:showPercent val="0"/>
              <c:showBubbleSize val="0"/>
            </c:dLbl>
            <c:dLbl>
              <c:idx val="1"/>
              <c:tx>
                <c:rich>
                  <a:bodyPr/>
                  <a:lstStyle/>
                  <a:p>
                    <a:r>
                      <a:rPr sz="1100" b="1">
                        <a:solidFill>
                          <a:srgbClr val="1A1A2E"/>
                        </a:solidFill>
                        <a:latin typeface="Calibri"/>
                      </a:rPr>
                      <a:t>3,080 B</a:t>
                    </a:r>
                  </a:p>
                </c:rich>
              </c:tx>
              <c:dLblPos val="outEnd"/>
              <c:showLegendKey val="0"/>
              <c:showVal val="1"/>
              <c:showCatName val="0"/>
              <c:showSerName val="0"/>
              <c:showPercent val="0"/>
              <c:showBubbleSize val="0"/>
            </c:dLbl>
            <c:dLbl>
              <c:idx val="2"/>
              <c:tx>
                <c:rich>
                  <a:bodyPr/>
                  <a:lstStyle/>
                  <a:p>
                    <a:r>
                      <a:rPr sz="1100" b="1">
                        <a:solidFill>
                          <a:srgbClr val="1A1A2E"/>
                        </a:solidFill>
                        <a:latin typeface="Calibri"/>
                      </a:rPr>
                      <a:t>≈2 KiB threshold</a:t>
                    </a:r>
                  </a:p>
                </c:rich>
              </c:tx>
              <c:dLblPos val="outEnd"/>
              <c:showLegendKey val="0"/>
              <c:showVal val="1"/>
              <c:showCatName val="0"/>
              <c:showSerName val="0"/>
              <c:showPercent val="0"/>
              <c:showBubbleSize val="0"/>
            </c:dLbl>
            <c:dLbl>
              <c:idx val="3"/>
              <c:tx>
                <c:rich>
                  <a:bodyPr/>
                  <a:lstStyle/>
                  <a:p>
                    <a:r>
                      <a:rPr sz="1100" b="1">
                        <a:solidFill>
                          <a:srgbClr val="1A1A2E"/>
                        </a:solidFill>
                        <a:latin typeface="Calibri"/>
                      </a:rPr>
                      <a:t>1,544 B</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FP32 Empirical
(vector(768))</c:v>
                </c:pt>
                <c:pt idx="1">
                  <c:v>FP32 Formula
(4d + 8)</c:v>
                </c:pt>
                <c:pt idx="2">
                  <c:v>PostgreSQL
TOAST Threshold</c:v>
                </c:pt>
                <c:pt idx="3">
                  <c:v>FP16 Inline
(halfvec(768))</c:v>
                </c:pt>
              </c:strCache>
            </c:strRef>
          </c:cat>
          <c:val>
            <c:numRef>
              <c:f>Sheet1!$B$2:$B$5</c:f>
              <c:numCache>
                <c:formatCode>General</c:formatCode>
                <c:ptCount val="4"/>
                <c:pt idx="0">
                  <c:v>3076</c:v>
                </c:pt>
                <c:pt idx="1">
                  <c:v>3080</c:v>
                </c:pt>
                <c:pt idx="2">
                  <c:v>2048</c:v>
                </c:pt>
                <c:pt idx="3">
                  <c:v>1544</c:v>
                </c:pt>
              </c:numCache>
            </c:numRef>
          </c:val>
        </c:ser>
        <c:dLbls>
          <c:numFmt formatCode="#,##0&quot; B&quot;" sourceLinked="0"/>
          <c:txPr>
            <a:bodyPr/>
            <a:lstStyle/>
            <a:p>
              <a:pPr>
                <a:defRPr sz="1100" b="1">
                  <a:solidFill>
                    <a:srgbClr val="1A1A2E"/>
                  </a:solidFill>
                  <a:latin typeface="Calibri"/>
                </a:defRPr>
              </a:pPr>
            </a:p>
          </c:txPr>
          <c:dLblPos val="outEnd"/>
          <c:showLegendKey val="0"/>
          <c:showVal val="1"/>
          <c:showCatName val="0"/>
          <c:showSerName val="0"/>
          <c:showPercent val="0"/>
          <c:showBubbleSize val="0"/>
          <c:showLeaderLines val="1"/>
        </c:dLbls>
        <c:gapWidth val="135"/>
        <c:overlap val="-18"/>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3600.0"/>
          <c:min val="0.0"/>
        </c:scaling>
        <c:delete val="0"/>
        <c:axPos val="l"/>
        <c:majorGridlines/>
        <c:numFmt formatCode="#,##0&quot; B&quot;" sourceLinked="0"/>
        <c:majorTickMark val="out"/>
        <c:minorTickMark val="none"/>
        <c:tickLblPos val="nextTo"/>
        <c:txPr>
          <a:bodyPr/>
          <a:lstStyle/>
          <a:p>
            <a:pPr>
              <a:defRPr sz="1100">
                <a:solidFill>
                  <a:srgbClr val="5B6472"/>
                </a:solidFill>
                <a:latin typeface="Calibri"/>
              </a:defRPr>
            </a:pPr>
          </a:p>
        </c:txPr>
        <c:crossAx val="-2068027336"/>
        <c:crosses val="autoZero"/>
      </c:valAx>
    </c:plotArea>
    <c:dispBlanksAs val="gap"/>
  </c:chart>
  <c:txPr>
    <a:bodyPr/>
    <a:lstStyle/>
    <a:p>
      <a:pPr>
        <a:defRPr sz="115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Evaluated Chunks (BeIR/msmarco)</c:v>
                </c:pt>
              </c:strCache>
            </c:strRef>
          </c:tx>
          <c:spPr>
            <a:solidFill>
              <a:srgbClr val="065A82"/>
            </a:solidFill>
            <a:ln>
              <a:noFill/>
            </a:ln>
          </c:spPr>
          <c:cat>
            <c:strRef>
              <c:f>Sheet1!$A$2:$A$5</c:f>
              <c:strCache>
                <c:ptCount val="4"/>
                <c:pt idx="0">
                  <c:v>Review 2
Baseline
(11 pytest)</c:v>
                </c:pt>
                <c:pt idx="1">
                  <c:v>Stages 1–3
Exp DB
(34 pytest)</c:v>
                </c:pt>
                <c:pt idx="2">
                  <c:v>Stage 4 v2
5k Scale
(43 pytest)</c:v>
                </c:pt>
                <c:pt idx="3">
                  <c:v>Stage 4 v2
10k Scale
(43 pytest)</c:v>
                </c:pt>
              </c:strCache>
            </c:strRef>
          </c:cat>
          <c:val>
            <c:numRef>
              <c:f>Sheet1!$B$2:$B$5</c:f>
              <c:numCache>
                <c:formatCode>General</c:formatCode>
                <c:ptCount val="4"/>
                <c:pt idx="0">
                  <c:v>180</c:v>
                </c:pt>
                <c:pt idx="1">
                  <c:v>1001</c:v>
                </c:pt>
                <c:pt idx="2">
                  <c:v>5000</c:v>
                </c:pt>
                <c:pt idx="3">
                  <c:v>10000</c:v>
                </c:pt>
              </c:numCache>
            </c:numRef>
          </c:val>
        </c:ser>
        <c:ser>
          <c:idx val="1"/>
          <c:order val="1"/>
          <c:tx>
            <c:strRef>
              <c:f>Sheet1!$C$1</c:f>
              <c:strCache>
                <c:ptCount val="1"/>
                <c:pt idx="0">
                  <c:v>Source Documents Ingested</c:v>
                </c:pt>
              </c:strCache>
            </c:strRef>
          </c:tx>
          <c:spPr>
            <a:solidFill>
              <a:srgbClr val="006D5B"/>
            </a:solidFill>
            <a:ln>
              <a:noFill/>
            </a:ln>
          </c:spPr>
          <c:cat>
            <c:strRef>
              <c:f>Sheet1!$A$2:$A$5</c:f>
              <c:strCache>
                <c:ptCount val="4"/>
                <c:pt idx="0">
                  <c:v>Review 2
Baseline
(11 pytest)</c:v>
                </c:pt>
                <c:pt idx="1">
                  <c:v>Stages 1–3
Exp DB
(34 pytest)</c:v>
                </c:pt>
                <c:pt idx="2">
                  <c:v>Stage 4 v2
5k Scale
(43 pytest)</c:v>
                </c:pt>
                <c:pt idx="3">
                  <c:v>Stage 4 v2
10k Scale
(43 pytest)</c:v>
                </c:pt>
              </c:strCache>
            </c:strRef>
          </c:cat>
          <c:val>
            <c:numRef>
              <c:f>Sheet1!$C$2:$C$5</c:f>
              <c:numCache>
                <c:formatCode>General</c:formatCode>
                <c:ptCount val="4"/>
                <c:pt idx="0">
                  <c:v>100</c:v>
                </c:pt>
                <c:pt idx="1">
                  <c:v>550</c:v>
                </c:pt>
                <c:pt idx="2">
                  <c:v>2729</c:v>
                </c:pt>
                <c:pt idx="3">
                  <c:v>5457</c:v>
                </c:pt>
              </c:numCache>
            </c:numRef>
          </c:val>
        </c:ser>
        <c:dLbls>
          <c:numFmt formatCode="#,##0" sourceLinked="0"/>
          <c:txPr>
            <a:bodyPr/>
            <a:lstStyle/>
            <a:p>
              <a:pPr>
                <a:defRPr sz="1100" b="1">
                  <a:solidFill>
                    <a:srgbClr val="1A1A2E"/>
                  </a:solidFill>
                  <a:latin typeface="Calibri"/>
                </a:defRPr>
              </a:pPr>
            </a:p>
          </c:txPr>
          <c:dLblPos val="outEnd"/>
          <c:showLegendKey val="0"/>
          <c:showVal val="1"/>
          <c:showCatName val="0"/>
          <c:showSerName val="0"/>
          <c:showPercent val="0"/>
          <c:showBubbleSize val="0"/>
          <c:showLeaderLines val="1"/>
        </c:dLbls>
        <c:gapWidth val="135"/>
        <c:overlap val="-18"/>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11500.0"/>
          <c:min val="0.0"/>
        </c:scaling>
        <c:delete val="0"/>
        <c:axPos val="l"/>
        <c:majorGridlines/>
        <c:numFmt formatCode="#,##0" sourceLinked="0"/>
        <c:majorTickMark val="out"/>
        <c:minorTickMark val="none"/>
        <c:tickLblPos val="nextTo"/>
        <c:txPr>
          <a:bodyPr/>
          <a:lstStyle/>
          <a:p>
            <a:pPr>
              <a:defRPr sz="1100">
                <a:solidFill>
                  <a:srgbClr val="5B6472"/>
                </a:solidFill>
                <a:latin typeface="Calibri"/>
              </a:defRPr>
            </a:pPr>
          </a:p>
        </c:txPr>
        <c:crossAx val="-2068027336"/>
        <c:crosses val="autoZero"/>
      </c:valAx>
    </c:plotArea>
    <c:legend>
      <c:legendPos val="t"/>
      <c:overlay val="0"/>
      <c:txPr>
        <a:bodyPr/>
        <a:lstStyle/>
        <a:p>
          <a:pPr>
            <a:defRPr sz="1150">
              <a:solidFill>
                <a:srgbClr val="1A1A2E"/>
              </a:solidFill>
              <a:latin typeface="Calibri"/>
            </a:defRPr>
          </a:pPr>
        </a:p>
      </c:txPr>
    </c:legend>
    <c:dispBlanksAs val="gap"/>
  </c:chart>
  <c:txPr>
    <a:bodyPr/>
    <a:lstStyle/>
    <a:p>
      <a:pPr>
        <a:defRPr sz="115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 vector(768) (MiB)</c:v>
                </c:pt>
              </c:strCache>
            </c:strRef>
          </c:tx>
          <c:spPr>
            <a:solidFill>
              <a:srgbClr val="065A82"/>
            </a:solidFill>
            <a:ln>
              <a:noFill/>
            </a:ln>
          </c:spPr>
          <c:cat>
            <c:strRef>
              <c:f>Sheet1!$A$2:$A$6</c:f>
              <c:strCache>
                <c:ptCount val="5"/>
                <c:pt idx="0">
                  <c:v>1,001 Chunks
Base Relation</c:v>
                </c:pt>
                <c:pt idx="1">
                  <c:v>5,000 Chunks
Base Relation</c:v>
                </c:pt>
                <c:pt idx="2">
                  <c:v>5,000 Chunks
Inclusive Total</c:v>
                </c:pt>
                <c:pt idx="3">
                  <c:v>10,000 Chunks
Base Relation</c:v>
                </c:pt>
                <c:pt idx="4">
                  <c:v>10,000 Chunks
Inclusive Total</c:v>
                </c:pt>
              </c:strCache>
            </c:strRef>
          </c:cat>
          <c:val>
            <c:numRef>
              <c:f>Sheet1!$B$2:$B$6</c:f>
              <c:numCache>
                <c:formatCode>General</c:formatCode>
                <c:ptCount val="5"/>
                <c:pt idx="0">
                  <c:v>4.13</c:v>
                </c:pt>
                <c:pt idx="1">
                  <c:v>20.2</c:v>
                </c:pt>
                <c:pt idx="2">
                  <c:v>39.68</c:v>
                </c:pt>
                <c:pt idx="3">
                  <c:v>40.31</c:v>
                </c:pt>
                <c:pt idx="4">
                  <c:v>79.2</c:v>
                </c:pt>
              </c:numCache>
            </c:numRef>
          </c:val>
        </c:ser>
        <c:ser>
          <c:idx val="1"/>
          <c:order val="1"/>
          <c:tx>
            <c:strRef>
              <c:f>Sheet1!$C$1</c:f>
              <c:strCache>
                <c:ptCount val="1"/>
                <c:pt idx="0">
                  <c:v>FP16 halfvec(768) (MiB)</c:v>
                </c:pt>
              </c:strCache>
            </c:strRef>
          </c:tx>
          <c:spPr>
            <a:solidFill>
              <a:srgbClr val="006D5B"/>
            </a:solidFill>
            <a:ln>
              <a:noFill/>
            </a:ln>
          </c:spPr>
          <c:cat>
            <c:strRef>
              <c:f>Sheet1!$A$2:$A$6</c:f>
              <c:strCache>
                <c:ptCount val="5"/>
                <c:pt idx="0">
                  <c:v>1,001 Chunks
Base Relation</c:v>
                </c:pt>
                <c:pt idx="1">
                  <c:v>5,000 Chunks
Base Relation</c:v>
                </c:pt>
                <c:pt idx="2">
                  <c:v>5,000 Chunks
Inclusive Total</c:v>
                </c:pt>
                <c:pt idx="3">
                  <c:v>10,000 Chunks
Base Relation</c:v>
                </c:pt>
                <c:pt idx="4">
                  <c:v>10,000 Chunks
Inclusive Total</c:v>
                </c:pt>
              </c:strCache>
            </c:strRef>
          </c:cat>
          <c:val>
            <c:numRef>
              <c:f>Sheet1!$C$2:$C$6</c:f>
              <c:numCache>
                <c:formatCode>General</c:formatCode>
                <c:ptCount val="5"/>
                <c:pt idx="0">
                  <c:v>1.65</c:v>
                </c:pt>
                <c:pt idx="1">
                  <c:v>7.98</c:v>
                </c:pt>
                <c:pt idx="2">
                  <c:v>17.72</c:v>
                </c:pt>
                <c:pt idx="3">
                  <c:v>15.9</c:v>
                </c:pt>
                <c:pt idx="4">
                  <c:v>35.35</c:v>
                </c:pt>
              </c:numCache>
            </c:numRef>
          </c:val>
        </c:ser>
        <c:dLbls>
          <c:numFmt formatCode="0.00" sourceLinked="0"/>
          <c:txPr>
            <a:bodyPr/>
            <a:lstStyle/>
            <a:p>
              <a:pPr>
                <a:defRPr sz="1100" b="1">
                  <a:solidFill>
                    <a:srgbClr val="1A1A2E"/>
                  </a:solidFill>
                  <a:latin typeface="Calibri"/>
                </a:defRPr>
              </a:pPr>
            </a:p>
          </c:txPr>
          <c:dLblPos val="outEnd"/>
          <c:showLegendKey val="0"/>
          <c:showVal val="1"/>
          <c:showCatName val="0"/>
          <c:showSerName val="0"/>
          <c:showPercent val="0"/>
          <c:showBubbleSize val="0"/>
          <c:showLeaderLines val="1"/>
        </c:dLbls>
        <c:gapWidth val="135"/>
        <c:overlap val="-18"/>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92.0"/>
          <c:min val="0.0"/>
        </c:scaling>
        <c:delete val="0"/>
        <c:axPos val="l"/>
        <c:majorGridlines/>
        <c:numFmt formatCode="0.00" sourceLinked="0"/>
        <c:majorTickMark val="out"/>
        <c:minorTickMark val="none"/>
        <c:tickLblPos val="nextTo"/>
        <c:txPr>
          <a:bodyPr/>
          <a:lstStyle/>
          <a:p>
            <a:pPr>
              <a:defRPr sz="1100">
                <a:solidFill>
                  <a:srgbClr val="5B6472"/>
                </a:solidFill>
                <a:latin typeface="Calibri"/>
              </a:defRPr>
            </a:pPr>
          </a:p>
        </c:txPr>
        <c:crossAx val="-2068027336"/>
        <c:crosses val="autoZero"/>
      </c:valAx>
    </c:plotArea>
    <c:legend>
      <c:legendPos val="t"/>
      <c:overlay val="0"/>
      <c:txPr>
        <a:bodyPr/>
        <a:lstStyle/>
        <a:p>
          <a:pPr>
            <a:defRPr sz="1150">
              <a:solidFill>
                <a:srgbClr val="1A1A2E"/>
              </a:solidFill>
              <a:latin typeface="Calibri"/>
            </a:defRPr>
          </a:pPr>
        </a:p>
      </c:txPr>
    </c:legend>
    <c:dispBlanksAs val="gap"/>
  </c:chart>
  <c:txPr>
    <a:bodyPr/>
    <a:lstStyle/>
    <a:p>
      <a:pPr>
        <a:defRPr sz="115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 HNSW Index Size (MiB)</c:v>
                </c:pt>
              </c:strCache>
            </c:strRef>
          </c:tx>
          <c:spPr>
            <a:solidFill>
              <a:srgbClr val="065A82"/>
            </a:solidFill>
            <a:ln>
              <a:noFill/>
            </a:ln>
          </c:spPr>
          <c:cat>
            <c:strRef>
              <c:f>Sheet1!$A$2:$A$4</c:f>
              <c:strCache>
                <c:ptCount val="3"/>
                <c:pt idx="0">
                  <c:v>1,001 Chunks
(Stage 3)</c:v>
                </c:pt>
                <c:pt idx="1">
                  <c:v>5,000 Chunks
(Stage 4)</c:v>
                </c:pt>
                <c:pt idx="2">
                  <c:v>10,000 Chunks
(Stage 4)</c:v>
                </c:pt>
              </c:strCache>
            </c:strRef>
          </c:cat>
          <c:val>
            <c:numRef>
              <c:f>Sheet1!$B$2:$B$4</c:f>
              <c:numCache>
                <c:formatCode>General</c:formatCode>
                <c:ptCount val="3"/>
                <c:pt idx="0">
                  <c:v>3.9</c:v>
                </c:pt>
                <c:pt idx="1">
                  <c:v>19.48</c:v>
                </c:pt>
                <c:pt idx="2">
                  <c:v>38.89</c:v>
                </c:pt>
              </c:numCache>
            </c:numRef>
          </c:val>
        </c:ser>
        <c:ser>
          <c:idx val="1"/>
          <c:order val="1"/>
          <c:tx>
            <c:strRef>
              <c:f>Sheet1!$C$1</c:f>
              <c:strCache>
                <c:ptCount val="1"/>
                <c:pt idx="0">
                  <c:v>FP16 HNSW Index Size (MiB)</c:v>
                </c:pt>
              </c:strCache>
            </c:strRef>
          </c:tx>
          <c:spPr>
            <a:solidFill>
              <a:srgbClr val="006D5B"/>
            </a:solidFill>
            <a:ln>
              <a:noFill/>
            </a:ln>
          </c:spPr>
          <c:cat>
            <c:strRef>
              <c:f>Sheet1!$A$2:$A$4</c:f>
              <c:strCache>
                <c:ptCount val="3"/>
                <c:pt idx="0">
                  <c:v>1,001 Chunks
(Stage 3)</c:v>
                </c:pt>
                <c:pt idx="1">
                  <c:v>5,000 Chunks
(Stage 4)</c:v>
                </c:pt>
                <c:pt idx="2">
                  <c:v>10,000 Chunks
(Stage 4)</c:v>
                </c:pt>
              </c:strCache>
            </c:strRef>
          </c:cat>
          <c:val>
            <c:numRef>
              <c:f>Sheet1!$C$2:$C$4</c:f>
              <c:numCache>
                <c:formatCode>General</c:formatCode>
                <c:ptCount val="3"/>
                <c:pt idx="0">
                  <c:v>1.95</c:v>
                </c:pt>
                <c:pt idx="1">
                  <c:v>9.74</c:v>
                </c:pt>
                <c:pt idx="2">
                  <c:v>19.45</c:v>
                </c:pt>
              </c:numCache>
            </c:numRef>
          </c:val>
        </c:ser>
        <c:dLbls>
          <c:numFmt formatCode="0.00&quot; MiB&quot;" sourceLinked="0"/>
          <c:txPr>
            <a:bodyPr/>
            <a:lstStyle/>
            <a:p>
              <a:pPr>
                <a:defRPr sz="1100" b="1">
                  <a:solidFill>
                    <a:srgbClr val="1A1A2E"/>
                  </a:solidFill>
                  <a:latin typeface="Calibri"/>
                </a:defRPr>
              </a:pPr>
            </a:p>
          </c:txPr>
          <c:dLblPos val="outEnd"/>
          <c:showLegendKey val="0"/>
          <c:showVal val="1"/>
          <c:showCatName val="0"/>
          <c:showSerName val="0"/>
          <c:showPercent val="0"/>
          <c:showBubbleSize val="0"/>
          <c:showLeaderLines val="1"/>
        </c:dLbls>
        <c:gapWidth val="135"/>
        <c:overlap val="-18"/>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45.0"/>
          <c:min val="0.0"/>
        </c:scaling>
        <c:delete val="0"/>
        <c:axPos val="l"/>
        <c:majorGridlines/>
        <c:numFmt formatCode="0.00&quot; MiB&quot;" sourceLinked="0"/>
        <c:majorTickMark val="out"/>
        <c:minorTickMark val="none"/>
        <c:tickLblPos val="nextTo"/>
        <c:txPr>
          <a:bodyPr/>
          <a:lstStyle/>
          <a:p>
            <a:pPr>
              <a:defRPr sz="1100">
                <a:solidFill>
                  <a:srgbClr val="5B6472"/>
                </a:solidFill>
                <a:latin typeface="Calibri"/>
              </a:defRPr>
            </a:pPr>
          </a:p>
        </c:txPr>
        <c:crossAx val="-2068027336"/>
        <c:crosses val="autoZero"/>
      </c:valAx>
    </c:plotArea>
    <c:legend>
      <c:legendPos val="t"/>
      <c:overlay val="0"/>
      <c:txPr>
        <a:bodyPr/>
        <a:lstStyle/>
        <a:p>
          <a:pPr>
            <a:defRPr sz="1150">
              <a:solidFill>
                <a:srgbClr val="1A1A2E"/>
              </a:solidFill>
              <a:latin typeface="Calibri"/>
            </a:defRPr>
          </a:pPr>
        </a:p>
      </c:txPr>
    </c:legend>
    <c:dispBlanksAs val="gap"/>
  </c:chart>
  <c:txPr>
    <a:bodyPr/>
    <a:lstStyle/>
    <a:p>
      <a:pPr>
        <a:defRPr sz="115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 Exact Seq Scan (ms)</c:v>
                </c:pt>
              </c:strCache>
            </c:strRef>
          </c:tx>
          <c:spPr>
            <a:solidFill>
              <a:srgbClr val="065A82"/>
            </a:solidFill>
            <a:ln>
              <a:noFill/>
            </a:ln>
          </c:spPr>
          <c:cat>
            <c:strRef>
              <c:f>Sheet1!$A$2:$A$5</c:f>
              <c:strCache>
                <c:ptCount val="4"/>
                <c:pt idx="0">
                  <c:v>5,000 Chunks
Mean Latency</c:v>
                </c:pt>
                <c:pt idx="1">
                  <c:v>5,000 Chunks
Median Latency</c:v>
                </c:pt>
                <c:pt idx="2">
                  <c:v>10,000 Chunks
Mean Latency</c:v>
                </c:pt>
                <c:pt idx="3">
                  <c:v>10,000 Chunks
Median Latency</c:v>
                </c:pt>
              </c:strCache>
            </c:strRef>
          </c:cat>
          <c:val>
            <c:numRef>
              <c:f>Sheet1!$B$2:$B$5</c:f>
              <c:numCache>
                <c:formatCode>General</c:formatCode>
                <c:ptCount val="4"/>
                <c:pt idx="0">
                  <c:v>42.285</c:v>
                </c:pt>
                <c:pt idx="1">
                  <c:v>44.694</c:v>
                </c:pt>
                <c:pt idx="2">
                  <c:v>89.004</c:v>
                </c:pt>
                <c:pt idx="3">
                  <c:v>92.664</c:v>
                </c:pt>
              </c:numCache>
            </c:numRef>
          </c:val>
        </c:ser>
        <c:ser>
          <c:idx val="1"/>
          <c:order val="1"/>
          <c:tx>
            <c:strRef>
              <c:f>Sheet1!$C$1</c:f>
              <c:strCache>
                <c:ptCount val="1"/>
                <c:pt idx="0">
                  <c:v>FP16 Exact Seq Scan (ms)</c:v>
                </c:pt>
              </c:strCache>
            </c:strRef>
          </c:tx>
          <c:spPr>
            <a:solidFill>
              <a:srgbClr val="006D5B"/>
            </a:solidFill>
            <a:ln>
              <a:noFill/>
            </a:ln>
          </c:spPr>
          <c:cat>
            <c:strRef>
              <c:f>Sheet1!$A$2:$A$5</c:f>
              <c:strCache>
                <c:ptCount val="4"/>
                <c:pt idx="0">
                  <c:v>5,000 Chunks
Mean Latency</c:v>
                </c:pt>
                <c:pt idx="1">
                  <c:v>5,000 Chunks
Median Latency</c:v>
                </c:pt>
                <c:pt idx="2">
                  <c:v>10,000 Chunks
Mean Latency</c:v>
                </c:pt>
                <c:pt idx="3">
                  <c:v>10,000 Chunks
Median Latency</c:v>
                </c:pt>
              </c:strCache>
            </c:strRef>
          </c:cat>
          <c:val>
            <c:numRef>
              <c:f>Sheet1!$C$2:$C$5</c:f>
              <c:numCache>
                <c:formatCode>General</c:formatCode>
                <c:ptCount val="4"/>
                <c:pt idx="0">
                  <c:v>6.802</c:v>
                </c:pt>
                <c:pt idx="1">
                  <c:v>6.277</c:v>
                </c:pt>
                <c:pt idx="2">
                  <c:v>12.301</c:v>
                </c:pt>
                <c:pt idx="3">
                  <c:v>11.541</c:v>
                </c:pt>
              </c:numCache>
            </c:numRef>
          </c:val>
        </c:ser>
        <c:dLbls>
          <c:numFmt formatCode="0.00" sourceLinked="0"/>
          <c:txPr>
            <a:bodyPr/>
            <a:lstStyle/>
            <a:p>
              <a:pPr>
                <a:defRPr sz="1100" b="1">
                  <a:solidFill>
                    <a:srgbClr val="1A1A2E"/>
                  </a:solidFill>
                  <a:latin typeface="Calibri"/>
                </a:defRPr>
              </a:pPr>
            </a:p>
          </c:txPr>
          <c:dLblPos val="outEnd"/>
          <c:showLegendKey val="0"/>
          <c:showVal val="1"/>
          <c:showCatName val="0"/>
          <c:showSerName val="0"/>
          <c:showPercent val="0"/>
          <c:showBubbleSize val="0"/>
          <c:showLeaderLines val="1"/>
        </c:dLbls>
        <c:gapWidth val="135"/>
        <c:overlap val="-18"/>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108.0"/>
          <c:min val="0.0"/>
        </c:scaling>
        <c:delete val="0"/>
        <c:axPos val="l"/>
        <c:majorGridlines/>
        <c:numFmt formatCode="0.00" sourceLinked="0"/>
        <c:majorTickMark val="out"/>
        <c:minorTickMark val="none"/>
        <c:tickLblPos val="nextTo"/>
        <c:txPr>
          <a:bodyPr/>
          <a:lstStyle/>
          <a:p>
            <a:pPr>
              <a:defRPr sz="1100">
                <a:solidFill>
                  <a:srgbClr val="5B6472"/>
                </a:solidFill>
                <a:latin typeface="Calibri"/>
              </a:defRPr>
            </a:pPr>
          </a:p>
        </c:txPr>
        <c:crossAx val="-2068027336"/>
        <c:crosses val="autoZero"/>
      </c:valAx>
    </c:plotArea>
    <c:legend>
      <c:legendPos val="t"/>
      <c:overlay val="0"/>
      <c:txPr>
        <a:bodyPr/>
        <a:lstStyle/>
        <a:p>
          <a:pPr>
            <a:defRPr sz="1150">
              <a:solidFill>
                <a:srgbClr val="1A1A2E"/>
              </a:solidFill>
              <a:latin typeface="Calibri"/>
            </a:defRPr>
          </a:pPr>
        </a:p>
      </c:txPr>
    </c:legend>
    <c:dispBlanksAs val="gap"/>
  </c:chart>
  <c:txPr>
    <a:bodyPr/>
    <a:lstStyle/>
    <a:p>
      <a:pPr>
        <a:defRPr sz="115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 Forced HNSW (ms)</c:v>
                </c:pt>
              </c:strCache>
            </c:strRef>
          </c:tx>
          <c:spPr>
            <a:solidFill>
              <a:srgbClr val="065A82"/>
            </a:solidFill>
            <a:ln>
              <a:noFill/>
            </a:ln>
          </c:spPr>
          <c:cat>
            <c:strRef>
              <c:f>Sheet1!$A$2:$A$5</c:f>
              <c:strCache>
                <c:ptCount val="4"/>
                <c:pt idx="0">
                  <c:v>5,000 Chunks
Mean Latency</c:v>
                </c:pt>
                <c:pt idx="1">
                  <c:v>5,000 Chunks
Median Latency</c:v>
                </c:pt>
                <c:pt idx="2">
                  <c:v>10,000 Chunks
Mean Latency</c:v>
                </c:pt>
                <c:pt idx="3">
                  <c:v>10,000 Chunks
Median Latency</c:v>
                </c:pt>
              </c:strCache>
            </c:strRef>
          </c:cat>
          <c:val>
            <c:numRef>
              <c:f>Sheet1!$B$2:$B$5</c:f>
              <c:numCache>
                <c:formatCode>General</c:formatCode>
                <c:ptCount val="4"/>
                <c:pt idx="0">
                  <c:v>4.129</c:v>
                </c:pt>
                <c:pt idx="1">
                  <c:v>3.371</c:v>
                </c:pt>
                <c:pt idx="2">
                  <c:v>3.674</c:v>
                </c:pt>
                <c:pt idx="3">
                  <c:v>3.415</c:v>
                </c:pt>
              </c:numCache>
            </c:numRef>
          </c:val>
        </c:ser>
        <c:ser>
          <c:idx val="1"/>
          <c:order val="1"/>
          <c:tx>
            <c:strRef>
              <c:f>Sheet1!$C$1</c:f>
              <c:strCache>
                <c:ptCount val="1"/>
                <c:pt idx="0">
                  <c:v>FP16 Forced HNSW (ms)</c:v>
                </c:pt>
              </c:strCache>
            </c:strRef>
          </c:tx>
          <c:spPr>
            <a:solidFill>
              <a:srgbClr val="006D5B"/>
            </a:solidFill>
            <a:ln>
              <a:noFill/>
            </a:ln>
          </c:spPr>
          <c:cat>
            <c:strRef>
              <c:f>Sheet1!$A$2:$A$5</c:f>
              <c:strCache>
                <c:ptCount val="4"/>
                <c:pt idx="0">
                  <c:v>5,000 Chunks
Mean Latency</c:v>
                </c:pt>
                <c:pt idx="1">
                  <c:v>5,000 Chunks
Median Latency</c:v>
                </c:pt>
                <c:pt idx="2">
                  <c:v>10,000 Chunks
Mean Latency</c:v>
                </c:pt>
                <c:pt idx="3">
                  <c:v>10,000 Chunks
Median Latency</c:v>
                </c:pt>
              </c:strCache>
            </c:strRef>
          </c:cat>
          <c:val>
            <c:numRef>
              <c:f>Sheet1!$C$2:$C$5</c:f>
              <c:numCache>
                <c:formatCode>General</c:formatCode>
                <c:ptCount val="4"/>
                <c:pt idx="0">
                  <c:v>3.372</c:v>
                </c:pt>
                <c:pt idx="1">
                  <c:v>2.923</c:v>
                </c:pt>
                <c:pt idx="2">
                  <c:v>3.856</c:v>
                </c:pt>
                <c:pt idx="3">
                  <c:v>3.82</c:v>
                </c:pt>
              </c:numCache>
            </c:numRef>
          </c:val>
        </c:ser>
        <c:dLbls>
          <c:numFmt formatCode="0.000" sourceLinked="0"/>
          <c:txPr>
            <a:bodyPr/>
            <a:lstStyle/>
            <a:p>
              <a:pPr>
                <a:defRPr sz="1100" b="1">
                  <a:solidFill>
                    <a:srgbClr val="1A1A2E"/>
                  </a:solidFill>
                  <a:latin typeface="Calibri"/>
                </a:defRPr>
              </a:pPr>
            </a:p>
          </c:txPr>
          <c:dLblPos val="outEnd"/>
          <c:showLegendKey val="0"/>
          <c:showVal val="1"/>
          <c:showCatName val="0"/>
          <c:showSerName val="0"/>
          <c:showPercent val="0"/>
          <c:showBubbleSize val="0"/>
          <c:showLeaderLines val="1"/>
        </c:dLbls>
        <c:gapWidth val="135"/>
        <c:overlap val="-18"/>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5.2"/>
          <c:min val="0.0"/>
        </c:scaling>
        <c:delete val="0"/>
        <c:axPos val="l"/>
        <c:majorGridlines/>
        <c:numFmt formatCode="0.000" sourceLinked="0"/>
        <c:majorTickMark val="out"/>
        <c:minorTickMark val="none"/>
        <c:tickLblPos val="nextTo"/>
        <c:txPr>
          <a:bodyPr/>
          <a:lstStyle/>
          <a:p>
            <a:pPr>
              <a:defRPr sz="1100">
                <a:solidFill>
                  <a:srgbClr val="5B6472"/>
                </a:solidFill>
                <a:latin typeface="Calibri"/>
              </a:defRPr>
            </a:pPr>
          </a:p>
        </c:txPr>
        <c:crossAx val="-2068027336"/>
        <c:crosses val="autoZero"/>
      </c:valAx>
    </c:plotArea>
    <c:legend>
      <c:legendPos val="t"/>
      <c:overlay val="0"/>
      <c:txPr>
        <a:bodyPr/>
        <a:lstStyle/>
        <a:p>
          <a:pPr>
            <a:defRPr sz="1150">
              <a:solidFill>
                <a:srgbClr val="1A1A2E"/>
              </a:solidFill>
              <a:latin typeface="Calibri"/>
            </a:defRPr>
          </a:pPr>
        </a:p>
      </c:txPr>
    </c:legend>
    <c:dispBlanksAs val="gap"/>
  </c:chart>
  <c:txPr>
    <a:bodyPr/>
    <a:lstStyle/>
    <a:p>
      <a:pPr>
        <a:defRPr sz="115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 HNSW (vector)</c:v>
                </c:pt>
              </c:strCache>
            </c:strRef>
          </c:tx>
          <c:spPr>
            <a:solidFill>
              <a:srgbClr val="065A82"/>
            </a:solidFill>
            <a:ln>
              <a:noFill/>
            </a:ln>
          </c:spPr>
          <c:dLbls>
            <c:dLbl>
              <c:idx val="0"/>
              <c:tx>
                <c:rich>
                  <a:bodyPr/>
                  <a:lstStyle/>
                  <a:p>
                    <a:r>
                      <a:rPr sz="1019" b="1">
                        <a:solidFill>
                          <a:srgbClr val="065A82"/>
                        </a:solidFill>
                        <a:latin typeface="Calibri"/>
                      </a:rPr>
                      <a:t>0.9167</a:t>
                    </a:r>
                  </a:p>
                  <a:p>
                    <a:r>
                      <a:rPr sz="650" b="1">
                        <a:solidFill>
                          <a:srgbClr val="065A82"/>
                        </a:solidFill>
                        <a:latin typeface="Calibri"/>
                      </a:rPr>
                      <a:t> </a:t>
                    </a:r>
                  </a:p>
                </c:rich>
              </c:tx>
              <c:dLblPos val="outEnd"/>
              <c:showLegendKey val="0"/>
              <c:showVal val="1"/>
              <c:showCatName val="0"/>
              <c:showSerName val="0"/>
              <c:showPercent val="0"/>
              <c:showBubbleSize val="0"/>
            </c:dLbl>
            <c:dLbl>
              <c:idx val="1"/>
              <c:tx>
                <c:rich>
                  <a:bodyPr/>
                  <a:lstStyle/>
                  <a:p>
                    <a:r>
                      <a:rPr sz="1019" b="1">
                        <a:solidFill>
                          <a:srgbClr val="065A82"/>
                        </a:solidFill>
                        <a:latin typeface="Calibri"/>
                      </a:rPr>
                      <a:t>0.9100</a:t>
                    </a:r>
                  </a:p>
                  <a:p>
                    <a:r>
                      <a:rPr sz="650" b="1">
                        <a:solidFill>
                          <a:srgbClr val="065A82"/>
                        </a:solidFill>
                        <a:latin typeface="Calibri"/>
                      </a:rPr>
                      <a:t> </a:t>
                    </a:r>
                  </a:p>
                </c:rich>
              </c:tx>
              <c:dLblPos val="outEnd"/>
              <c:showLegendKey val="0"/>
              <c:showVal val="1"/>
              <c:showCatName val="0"/>
              <c:showSerName val="0"/>
              <c:showPercent val="0"/>
              <c:showBubbleSize val="0"/>
            </c:dLbl>
            <c:dLbl>
              <c:idx val="2"/>
              <c:tx>
                <c:rich>
                  <a:bodyPr/>
                  <a:lstStyle/>
                  <a:p>
                    <a:r>
                      <a:rPr sz="1019" b="1">
                        <a:solidFill>
                          <a:srgbClr val="065A82"/>
                        </a:solidFill>
                        <a:latin typeface="Calibri"/>
                      </a:rPr>
                      <a:t>0.9550</a:t>
                    </a:r>
                  </a:p>
                </c:rich>
              </c:tx>
              <c:dLblPos val="outEnd"/>
              <c:showLegendKey val="0"/>
              <c:showVal val="1"/>
              <c:showCatName val="0"/>
              <c:showSerName val="0"/>
              <c:showPercent val="0"/>
              <c:showBubbleSize val="0"/>
            </c:dLbl>
            <c:dLbl>
              <c:idx val="3"/>
              <c:tx>
                <c:rich>
                  <a:bodyPr/>
                  <a:lstStyle/>
                  <a:p>
                    <a:r>
                      <a:rPr sz="1019" b="1">
                        <a:solidFill>
                          <a:srgbClr val="065A82"/>
                        </a:solidFill>
                        <a:latin typeface="Calibri"/>
                      </a:rPr>
                      <a:t>0.9667</a:t>
                    </a:r>
                  </a:p>
                  <a:p>
                    <a:r>
                      <a:rPr sz="650" b="1">
                        <a:solidFill>
                          <a:srgbClr val="065A82"/>
                        </a:solidFill>
                        <a:latin typeface="Calibri"/>
                      </a:rPr>
                      <a:t> </a:t>
                    </a:r>
                  </a:p>
                </c:rich>
              </c:tx>
              <c:dLblPos val="outEnd"/>
              <c:showLegendKey val="0"/>
              <c:showVal val="1"/>
              <c:showCatName val="0"/>
              <c:showSerName val="0"/>
              <c:showPercent val="0"/>
              <c:showBubbleSize val="0"/>
            </c:dLbl>
            <c:dLbl>
              <c:idx val="4"/>
              <c:tx>
                <c:rich>
                  <a:bodyPr/>
                  <a:lstStyle/>
                  <a:p>
                    <a:r>
                      <a:rPr sz="1019" b="1">
                        <a:solidFill>
                          <a:srgbClr val="065A82"/>
                        </a:solidFill>
                        <a:latin typeface="Calibri"/>
                      </a:rPr>
                      <a:t>0.9500</a:t>
                    </a:r>
                  </a:p>
                  <a:p>
                    <a:r>
                      <a:rPr sz="650" b="1">
                        <a:solidFill>
                          <a:srgbClr val="065A82"/>
                        </a:solidFill>
                        <a:latin typeface="Calibri"/>
                      </a:rPr>
                      <a:t> </a:t>
                    </a:r>
                  </a:p>
                </c:rich>
              </c:tx>
              <c:dLblPos val="outEnd"/>
              <c:showLegendKey val="0"/>
              <c:showVal val="1"/>
              <c:showCatName val="0"/>
              <c:showSerName val="0"/>
              <c:showPercent val="0"/>
              <c:showBubbleSize val="0"/>
            </c:dLbl>
            <c:dLbl>
              <c:idx val="5"/>
              <c:tx>
                <c:rich>
                  <a:bodyPr/>
                  <a:lstStyle/>
                  <a:p>
                    <a:r>
                      <a:rPr sz="1019" b="1">
                        <a:solidFill>
                          <a:srgbClr val="065A82"/>
                        </a:solidFill>
                        <a:latin typeface="Calibri"/>
                      </a:rPr>
                      <a:t>0.9450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5k Corpus
Recall@3</c:v>
                </c:pt>
                <c:pt idx="1">
                  <c:v>5k Corpus
Recall@5</c:v>
                </c:pt>
                <c:pt idx="2">
                  <c:v>5k Corpus
Recall@10</c:v>
                </c:pt>
                <c:pt idx="3">
                  <c:v>10k Corpus
Recall@3</c:v>
                </c:pt>
                <c:pt idx="4">
                  <c:v>10k Corpus
Recall@5</c:v>
                </c:pt>
                <c:pt idx="5">
                  <c:v>10k Corpus
Recall@10</c:v>
                </c:pt>
              </c:strCache>
            </c:strRef>
          </c:cat>
          <c:val>
            <c:numRef>
              <c:f>Sheet1!$B$2:$B$7</c:f>
              <c:numCache>
                <c:formatCode>General</c:formatCode>
                <c:ptCount val="6"/>
                <c:pt idx="0">
                  <c:v>0.9167</c:v>
                </c:pt>
                <c:pt idx="1">
                  <c:v>0.91</c:v>
                </c:pt>
                <c:pt idx="2">
                  <c:v>0.955</c:v>
                </c:pt>
                <c:pt idx="3">
                  <c:v>0.9667</c:v>
                </c:pt>
                <c:pt idx="4">
                  <c:v>0.95</c:v>
                </c:pt>
                <c:pt idx="5">
                  <c:v>0.945</c:v>
                </c:pt>
              </c:numCache>
            </c:numRef>
          </c:val>
        </c:ser>
        <c:ser>
          <c:idx val="1"/>
          <c:order val="1"/>
          <c:tx>
            <c:strRef>
              <c:f>Sheet1!$C$1</c:f>
              <c:strCache>
                <c:ptCount val="1"/>
                <c:pt idx="0">
                  <c:v>FP16 HNSW (halfvec)</c:v>
                </c:pt>
              </c:strCache>
            </c:strRef>
          </c:tx>
          <c:spPr>
            <a:solidFill>
              <a:srgbClr val="006D5B"/>
            </a:solidFill>
            <a:ln>
              <a:noFill/>
            </a:ln>
          </c:spPr>
          <c:dLbls>
            <c:dLbl>
              <c:idx val="0"/>
              <c:tx>
                <c:rich>
                  <a:bodyPr/>
                  <a:lstStyle/>
                  <a:p>
                    <a:r>
                      <a:rPr sz="1019" b="1">
                        <a:solidFill>
                          <a:srgbClr val="006D5B"/>
                        </a:solidFill>
                        <a:latin typeface="Calibri"/>
                      </a:rPr>
                      <a:t>0.9167</a:t>
                    </a:r>
                  </a:p>
                </c:rich>
              </c:tx>
              <c:dLblPos val="outEnd"/>
              <c:showLegendKey val="0"/>
              <c:showVal val="1"/>
              <c:showCatName val="0"/>
              <c:showSerName val="0"/>
              <c:showPercent val="0"/>
              <c:showBubbleSize val="0"/>
            </c:dLbl>
            <c:dLbl>
              <c:idx val="1"/>
              <c:tx>
                <c:rich>
                  <a:bodyPr/>
                  <a:lstStyle/>
                  <a:p>
                    <a:r>
                      <a:rPr sz="1019" b="1">
                        <a:solidFill>
                          <a:srgbClr val="006D5B"/>
                        </a:solidFill>
                        <a:latin typeface="Calibri"/>
                      </a:rPr>
                      <a:t>0.9100</a:t>
                    </a:r>
                  </a:p>
                </c:rich>
              </c:tx>
              <c:dLblPos val="outEnd"/>
              <c:showLegendKey val="0"/>
              <c:showVal val="1"/>
              <c:showCatName val="0"/>
              <c:showSerName val="0"/>
              <c:showPercent val="0"/>
              <c:showBubbleSize val="0"/>
            </c:dLbl>
            <c:dLbl>
              <c:idx val="2"/>
              <c:tx>
                <c:rich>
                  <a:bodyPr/>
                  <a:lstStyle/>
                  <a:p>
                    <a:r>
                      <a:rPr sz="1019" b="1">
                        <a:solidFill>
                          <a:srgbClr val="006D5B"/>
                        </a:solidFill>
                        <a:latin typeface="Calibri"/>
                      </a:rPr>
                      <a:t>0.9600</a:t>
                    </a:r>
                  </a:p>
                  <a:p>
                    <a:r>
                      <a:rPr sz="650" b="1">
                        <a:solidFill>
                          <a:srgbClr val="006D5B"/>
                        </a:solidFill>
                        <a:latin typeface="Calibri"/>
                      </a:rPr>
                      <a:t> </a:t>
                    </a:r>
                  </a:p>
                </c:rich>
              </c:tx>
              <c:dLblPos val="outEnd"/>
              <c:showLegendKey val="0"/>
              <c:showVal val="1"/>
              <c:showCatName val="0"/>
              <c:showSerName val="0"/>
              <c:showPercent val="0"/>
              <c:showBubbleSize val="0"/>
            </c:dLbl>
            <c:dLbl>
              <c:idx val="3"/>
              <c:tx>
                <c:rich>
                  <a:bodyPr/>
                  <a:lstStyle/>
                  <a:p>
                    <a:r>
                      <a:rPr sz="1019" b="1">
                        <a:solidFill>
                          <a:srgbClr val="006D5B"/>
                        </a:solidFill>
                        <a:latin typeface="Calibri"/>
                      </a:rPr>
                      <a:t>0.9500</a:t>
                    </a:r>
                  </a:p>
                </c:rich>
              </c:tx>
              <c:dLblPos val="outEnd"/>
              <c:showLegendKey val="0"/>
              <c:showVal val="1"/>
              <c:showCatName val="0"/>
              <c:showSerName val="0"/>
              <c:showPercent val="0"/>
              <c:showBubbleSize val="0"/>
            </c:dLbl>
            <c:dLbl>
              <c:idx val="4"/>
              <c:tx>
                <c:rich>
                  <a:bodyPr/>
                  <a:lstStyle/>
                  <a:p>
                    <a:r>
                      <a:rPr sz="1019" b="1">
                        <a:solidFill>
                          <a:srgbClr val="006D5B"/>
                        </a:solidFill>
                        <a:latin typeface="Calibri"/>
                      </a:rPr>
                      <a:t>0.9400</a:t>
                    </a:r>
                  </a:p>
                </c:rich>
              </c:tx>
              <c:dLblPos val="outEnd"/>
              <c:showLegendKey val="0"/>
              <c:showVal val="1"/>
              <c:showCatName val="0"/>
              <c:showSerName val="0"/>
              <c:showPercent val="0"/>
              <c:showBubbleSize val="0"/>
            </c:dLbl>
            <c:dLbl>
              <c:idx val="5"/>
              <c:tx>
                <c:rich>
                  <a:bodyPr/>
                  <a:lstStyle/>
                  <a:p>
                    <a:r>
                      <a:rPr sz="1019" b="1">
                        <a:solidFill>
                          <a:srgbClr val="006D5B"/>
                        </a:solidFill>
                        <a:latin typeface="Calibri"/>
                      </a:rPr>
                      <a:t>0.9600</a:t>
                    </a:r>
                  </a:p>
                  <a:p>
                    <a:r>
                      <a:rPr sz="650" b="1">
                        <a:solidFill>
                          <a:srgbClr val="006D5B"/>
                        </a:solidFill>
                        <a:latin typeface="Calibri"/>
                      </a:rPr>
                      <a:t>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5k Corpus
Recall@3</c:v>
                </c:pt>
                <c:pt idx="1">
                  <c:v>5k Corpus
Recall@5</c:v>
                </c:pt>
                <c:pt idx="2">
                  <c:v>5k Corpus
Recall@10</c:v>
                </c:pt>
                <c:pt idx="3">
                  <c:v>10k Corpus
Recall@3</c:v>
                </c:pt>
                <c:pt idx="4">
                  <c:v>10k Corpus
Recall@5</c:v>
                </c:pt>
                <c:pt idx="5">
                  <c:v>10k Corpus
Recall@10</c:v>
                </c:pt>
              </c:strCache>
            </c:strRef>
          </c:cat>
          <c:val>
            <c:numRef>
              <c:f>Sheet1!$C$2:$C$7</c:f>
              <c:numCache>
                <c:formatCode>General</c:formatCode>
                <c:ptCount val="6"/>
                <c:pt idx="0">
                  <c:v>0.9167</c:v>
                </c:pt>
                <c:pt idx="1">
                  <c:v>0.91</c:v>
                </c:pt>
                <c:pt idx="2">
                  <c:v>0.96</c:v>
                </c:pt>
                <c:pt idx="3">
                  <c:v>0.95</c:v>
                </c:pt>
                <c:pt idx="4">
                  <c:v>0.94</c:v>
                </c:pt>
                <c:pt idx="5">
                  <c:v>0.96</c:v>
                </c:pt>
              </c:numCache>
            </c:numRef>
          </c:val>
        </c:ser>
        <c:dLbls>
          <c:numFmt formatCode="0.0000" sourceLinked="0"/>
          <c:txPr>
            <a:bodyPr/>
            <a:lstStyle/>
            <a:p>
              <a:pPr>
                <a:defRPr sz="1019" b="1">
                  <a:solidFill>
                    <a:srgbClr val="1A1A2E"/>
                  </a:solidFill>
                  <a:latin typeface="Calibri"/>
                </a:defRPr>
              </a:pPr>
            </a:p>
          </c:txPr>
          <c:dLblPos val="outEnd"/>
          <c:showLegendKey val="0"/>
          <c:showVal val="1"/>
          <c:showCatName val="0"/>
          <c:showSerName val="0"/>
          <c:showPercent val="0"/>
          <c:showBubbleSize val="0"/>
          <c:showLeaderLines val="1"/>
        </c:dLbls>
        <c:gapWidth val="75"/>
        <c:overlap val="-32"/>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1.0"/>
          <c:min val="0.0"/>
        </c:scaling>
        <c:delete val="0"/>
        <c:axPos val="l"/>
        <c:majorGridlines/>
        <c:numFmt formatCode="0.0" sourceLinked="0"/>
        <c:majorTickMark val="out"/>
        <c:minorTickMark val="none"/>
        <c:tickLblPos val="nextTo"/>
        <c:txPr>
          <a:bodyPr/>
          <a:lstStyle/>
          <a:p>
            <a:pPr>
              <a:defRPr sz="1100">
                <a:solidFill>
                  <a:srgbClr val="5B6472"/>
                </a:solidFill>
                <a:latin typeface="Calibri"/>
              </a:defRPr>
            </a:pPr>
          </a:p>
        </c:txPr>
        <c:crossAx val="-2068027336"/>
        <c:crosses val="autoZero"/>
        <c:majorUnit val="0.2"/>
      </c:valAx>
    </c:plotArea>
    <c:legend>
      <c:legendPos val="t"/>
      <c:overlay val="0"/>
      <c:txPr>
        <a:bodyPr/>
        <a:lstStyle/>
        <a:p>
          <a:pPr>
            <a:defRPr sz="1150">
              <a:solidFill>
                <a:srgbClr val="1A1A2E"/>
              </a:solidFill>
              <a:latin typeface="Calibri"/>
            </a:defRPr>
          </a:pPr>
        </a:p>
      </c:txPr>
    </c:legend>
    <c:dispBlanksAs val="gap"/>
  </c:chart>
  <c:txPr>
    <a:bodyPr/>
    <a:lstStyle/>
    <a:p>
      <a:pPr>
        <a:defRPr sz="115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5,000 Chunks (FP32 vs. FP16 HNSW)</c:v>
                </c:pt>
              </c:strCache>
            </c:strRef>
          </c:tx>
          <c:spPr>
            <a:solidFill>
              <a:srgbClr val="065A82"/>
            </a:solidFill>
            <a:ln>
              <a:noFill/>
            </a:ln>
          </c:spPr>
          <c:cat>
            <c:strRef>
              <c:f>Sheet1!$A$2:$A$4</c:f>
              <c:strCache>
                <c:ptCount val="3"/>
                <c:pt idx="0">
                  <c:v>Agreement@3
(K = 3)</c:v>
                </c:pt>
                <c:pt idx="1">
                  <c:v>Agreement@5
(K = 5)</c:v>
                </c:pt>
                <c:pt idx="2">
                  <c:v>Agreement@10
(K = 10)</c:v>
                </c:pt>
              </c:strCache>
            </c:strRef>
          </c:cat>
          <c:val>
            <c:numRef>
              <c:f>Sheet1!$B$2:$B$4</c:f>
              <c:numCache>
                <c:formatCode>General</c:formatCode>
                <c:ptCount val="3"/>
                <c:pt idx="0">
                  <c:v>0.9667</c:v>
                </c:pt>
                <c:pt idx="1">
                  <c:v>0.98</c:v>
                </c:pt>
                <c:pt idx="2">
                  <c:v>0.985</c:v>
                </c:pt>
              </c:numCache>
            </c:numRef>
          </c:val>
        </c:ser>
        <c:ser>
          <c:idx val="1"/>
          <c:order val="1"/>
          <c:tx>
            <c:strRef>
              <c:f>Sheet1!$C$1</c:f>
              <c:strCache>
                <c:ptCount val="1"/>
                <c:pt idx="0">
                  <c:v>10,000 Chunks (FP32 vs. FP16 HNSW)</c:v>
                </c:pt>
              </c:strCache>
            </c:strRef>
          </c:tx>
          <c:spPr>
            <a:solidFill>
              <a:srgbClr val="006D5B"/>
            </a:solidFill>
            <a:ln>
              <a:noFill/>
            </a:ln>
          </c:spPr>
          <c:cat>
            <c:strRef>
              <c:f>Sheet1!$A$2:$A$4</c:f>
              <c:strCache>
                <c:ptCount val="3"/>
                <c:pt idx="0">
                  <c:v>Agreement@3
(K = 3)</c:v>
                </c:pt>
                <c:pt idx="1">
                  <c:v>Agreement@5
(K = 5)</c:v>
                </c:pt>
                <c:pt idx="2">
                  <c:v>Agreement@10
(K = 10)</c:v>
                </c:pt>
              </c:strCache>
            </c:strRef>
          </c:cat>
          <c:val>
            <c:numRef>
              <c:f>Sheet1!$C$2:$C$4</c:f>
              <c:numCache>
                <c:formatCode>General</c:formatCode>
                <c:ptCount val="3"/>
                <c:pt idx="0">
                  <c:v>0.9667</c:v>
                </c:pt>
                <c:pt idx="1">
                  <c:v>0.96</c:v>
                </c:pt>
                <c:pt idx="2">
                  <c:v>0.95</c:v>
                </c:pt>
              </c:numCache>
            </c:numRef>
          </c:val>
        </c:ser>
        <c:dLbls>
          <c:numFmt formatCode="0.0000" sourceLinked="0"/>
          <c:txPr>
            <a:bodyPr/>
            <a:lstStyle/>
            <a:p>
              <a:pPr>
                <a:defRPr sz="1050" b="1">
                  <a:solidFill>
                    <a:srgbClr val="1A1A2E"/>
                  </a:solidFill>
                  <a:latin typeface="Calibri"/>
                </a:defRPr>
              </a:pPr>
            </a:p>
          </c:txPr>
          <c:dLblPos val="outEnd"/>
          <c:showLegendKey val="0"/>
          <c:showVal val="1"/>
          <c:showCatName val="0"/>
          <c:showSerName val="0"/>
          <c:showPercent val="0"/>
          <c:showBubbleSize val="0"/>
          <c:showLeaderLines val="1"/>
        </c:dLbls>
        <c:gapWidth val="120"/>
        <c:overlap val="-24"/>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1.1"/>
          <c:min val="0.0"/>
        </c:scaling>
        <c:delete val="0"/>
        <c:axPos val="l"/>
        <c:majorGridlines/>
        <c:numFmt formatCode="0.0000" sourceLinked="0"/>
        <c:majorTickMark val="out"/>
        <c:minorTickMark val="none"/>
        <c:tickLblPos val="nextTo"/>
        <c:txPr>
          <a:bodyPr/>
          <a:lstStyle/>
          <a:p>
            <a:pPr>
              <a:defRPr sz="1100">
                <a:solidFill>
                  <a:srgbClr val="5B6472"/>
                </a:solidFill>
                <a:latin typeface="Calibri"/>
              </a:defRPr>
            </a:pPr>
          </a:p>
        </c:txPr>
        <c:crossAx val="-2068027336"/>
        <c:crosses val="autoZero"/>
      </c:valAx>
    </c:plotArea>
    <c:legend>
      <c:legendPos val="t"/>
      <c:overlay val="0"/>
      <c:txPr>
        <a:bodyPr/>
        <a:lstStyle/>
        <a:p>
          <a:pPr>
            <a:defRPr sz="1150">
              <a:solidFill>
                <a:srgbClr val="1A1A2E"/>
              </a:solidFill>
              <a:latin typeface="Calibri"/>
            </a:defRPr>
          </a:pPr>
        </a:p>
      </c:txPr>
    </c:legend>
    <c:dispBlanksAs val="gap"/>
  </c:chart>
  <c:txPr>
    <a:bodyPr/>
    <a:lstStyle/>
    <a:p>
      <a:pPr>
        <a:defRPr sz="115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Forced Seq Scan + Sort Cost</c:v>
                </c:pt>
              </c:strCache>
            </c:strRef>
          </c:tx>
          <c:spPr>
            <a:solidFill>
              <a:srgbClr val="065A82"/>
            </a:solidFill>
            <a:ln>
              <a:noFill/>
            </a:ln>
          </c:spPr>
          <c:cat>
            <c:strRef>
              <c:f>Sheet1!$A$2:$A$5</c:f>
              <c:strCache>
                <c:ptCount val="4"/>
                <c:pt idx="0">
                  <c:v>5k FP32
(32 heap blks)</c:v>
                </c:pt>
                <c:pt idx="1">
                  <c:v>5k FP16
(1,000 blks)</c:v>
                </c:pt>
                <c:pt idx="2">
                  <c:v>10k FP32
(64 heap blks)</c:v>
                </c:pt>
                <c:pt idx="3">
                  <c:v>10k FP16
(2,000 blks)</c:v>
                </c:pt>
              </c:strCache>
            </c:strRef>
          </c:cat>
          <c:val>
            <c:numRef>
              <c:f>Sheet1!$B$2:$B$5</c:f>
              <c:numCache>
                <c:formatCode>General</c:formatCode>
                <c:ptCount val="4"/>
                <c:pt idx="0">
                  <c:v>202.57</c:v>
                </c:pt>
                <c:pt idx="1">
                  <c:v>1170.57</c:v>
                </c:pt>
                <c:pt idx="2">
                  <c:v>405.12</c:v>
                </c:pt>
                <c:pt idx="3">
                  <c:v>2341.12</c:v>
                </c:pt>
              </c:numCache>
            </c:numRef>
          </c:val>
        </c:ser>
        <c:ser>
          <c:idx val="1"/>
          <c:order val="1"/>
          <c:tx>
            <c:strRef>
              <c:f>Sheet1!$C$1</c:f>
              <c:strCache>
                <c:ptCount val="1"/>
                <c:pt idx="0">
                  <c:v>HNSW Index Scan + Limit Cost</c:v>
                </c:pt>
              </c:strCache>
            </c:strRef>
          </c:tx>
          <c:spPr>
            <a:solidFill>
              <a:srgbClr val="006D5B"/>
            </a:solidFill>
            <a:ln>
              <a:noFill/>
            </a:ln>
          </c:spPr>
          <c:cat>
            <c:strRef>
              <c:f>Sheet1!$A$2:$A$5</c:f>
              <c:strCache>
                <c:ptCount val="4"/>
                <c:pt idx="0">
                  <c:v>5k FP32
(32 heap blks)</c:v>
                </c:pt>
                <c:pt idx="1">
                  <c:v>5k FP16
(1,000 blks)</c:v>
                </c:pt>
                <c:pt idx="2">
                  <c:v>10k FP32
(64 heap blks)</c:v>
                </c:pt>
                <c:pt idx="3">
                  <c:v>10k FP16
(2,000 blks)</c:v>
                </c:pt>
              </c:strCache>
            </c:strRef>
          </c:cat>
          <c:val>
            <c:numRef>
              <c:f>Sheet1!$C$2:$C$5</c:f>
              <c:numCache>
                <c:formatCode>General</c:formatCode>
                <c:ptCount val="4"/>
                <c:pt idx="0">
                  <c:v>56.17</c:v>
                </c:pt>
                <c:pt idx="1">
                  <c:v>529.0</c:v>
                </c:pt>
                <c:pt idx="2">
                  <c:v>88.43</c:v>
                </c:pt>
                <c:pt idx="3">
                  <c:v>566.31</c:v>
                </c:pt>
              </c:numCache>
            </c:numRef>
          </c:val>
        </c:ser>
        <c:dLbls>
          <c:numFmt formatCode="0.00" sourceLinked="0"/>
          <c:txPr>
            <a:bodyPr/>
            <a:lstStyle/>
            <a:p>
              <a:pPr>
                <a:defRPr sz="1100" b="1">
                  <a:solidFill>
                    <a:srgbClr val="1A1A2E"/>
                  </a:solidFill>
                  <a:latin typeface="Calibri"/>
                </a:defRPr>
              </a:pPr>
            </a:p>
          </c:txPr>
          <c:dLblPos val="outEnd"/>
          <c:showLegendKey val="0"/>
          <c:showVal val="1"/>
          <c:showCatName val="0"/>
          <c:showSerName val="0"/>
          <c:showPercent val="0"/>
          <c:showBubbleSize val="0"/>
          <c:showLeaderLines val="1"/>
        </c:dLbls>
        <c:gapWidth val="135"/>
        <c:overlap val="-18"/>
        <c:axId val="-2068027336"/>
        <c:axId val="-2113994440"/>
      </c:barChart>
      <c:catAx>
        <c:axId val="-2068027336"/>
        <c:scaling>
          <c:orientation val="minMax"/>
        </c:scaling>
        <c:delete val="0"/>
        <c:axPos val="b"/>
        <c:majorTickMark val="out"/>
        <c:minorTickMark val="none"/>
        <c:tickLblPos val="nextTo"/>
        <c:txPr>
          <a:bodyPr/>
          <a:lstStyle/>
          <a:p>
            <a:pPr>
              <a:defRPr sz="1120" b="1">
                <a:solidFill>
                  <a:srgbClr val="1A1A2E"/>
                </a:solidFill>
                <a:latin typeface="Calibri"/>
              </a:defRPr>
            </a:pPr>
          </a:p>
        </c:txPr>
        <c:crossAx val="-2113994440"/>
        <c:crosses val="autoZero"/>
        <c:auto val="1"/>
        <c:lblAlgn val="ctr"/>
        <c:lblOffset val="100"/>
        <c:noMultiLvlLbl val="0"/>
      </c:catAx>
      <c:valAx>
        <c:axId val="-2113994440"/>
        <c:scaling>
          <c:max val="2650.0"/>
          <c:min val="0.0"/>
        </c:scaling>
        <c:delete val="0"/>
        <c:axPos val="l"/>
        <c:majorGridlines/>
        <c:numFmt formatCode="0.00" sourceLinked="0"/>
        <c:majorTickMark val="out"/>
        <c:minorTickMark val="none"/>
        <c:tickLblPos val="nextTo"/>
        <c:txPr>
          <a:bodyPr/>
          <a:lstStyle/>
          <a:p>
            <a:pPr>
              <a:defRPr sz="1100">
                <a:solidFill>
                  <a:srgbClr val="5B6472"/>
                </a:solidFill>
                <a:latin typeface="Calibri"/>
              </a:defRPr>
            </a:pPr>
          </a:p>
        </c:txPr>
        <c:crossAx val="-2068027336"/>
        <c:crosses val="autoZero"/>
      </c:valAx>
    </c:plotArea>
    <c:legend>
      <c:legendPos val="t"/>
      <c:overlay val="0"/>
      <c:txPr>
        <a:bodyPr/>
        <a:lstStyle/>
        <a:p>
          <a:pPr>
            <a:defRPr sz="1150">
              <a:solidFill>
                <a:srgbClr val="1A1A2E"/>
              </a:solidFill>
              <a:latin typeface="Calibri"/>
            </a:defRPr>
          </a:pPr>
        </a:p>
      </c:txPr>
    </c:legend>
    <c:dispBlanksAs val="gap"/>
  </c:chart>
  <c:txPr>
    <a:bodyPr/>
    <a:lstStyle/>
    <a:p>
      <a:pPr>
        <a:defRPr sz="115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&amp; INTRODUCTION:</a:t>
            </a:r>
          </a:p>
          <a:p>
            <a:r>
              <a:t>- What the slide means: Introduces our completed B.Tech CSE final project for BCSE302P (Database Systems Lab) at VIT Vellore under the supervision of Dr. D. Anuradha.</a:t>
            </a:r>
          </a:p>
          <a:p>
            <a:r>
              <a:t>- Verbal explanation: State that while Review 2 presented our 180-chunk baseline prototype, this final presentation reports the completed 4-stage empirical evaluation comparing 32-bit single-precision (vector(768)) and 16-bit half-precision (halfvec(768)) coordinate representations with HNSW graph indexing in PostgreSQL 18.4 and pgvector 0.8.4 across 1,001, 5,000, and 10,000 MS MARCO chunks.</a:t>
            </a:r>
          </a:p>
          <a:p>
            <a:r>
              <a:t>- Key takeaway: Half-precision coordinate representation eliminates out-of-line PostgreSQL TOAST data payloads, cuts inclusive post-index storage by 55.35%–55.37%, speeds up exact sequential scans by 6.22x–7.24x on the mean, and preserves 0.9600 Recall@10.</a:t>
            </a:r>
          </a:p>
          <a:p>
            <a:r>
              <a:t>- Transition to Slide 2: Let us begin by examining why storing 768-dimensional FP32 vectors in PostgreSQL creates a physical storage and buffer bottleneck.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PROBLEM AND MOTIVATION:</a:t>
            </a:r>
          </a:p>
          <a:p>
            <a:r>
              <a:t>- What the slide means: Explains the physical storage mismatch between 768-dimensional 32-bit embeddings and PostgreSQL's 8 KiB (8,192 B) page architecture.</a:t>
            </a:r>
          </a:p>
          <a:p>
            <a:r>
              <a:t>- Verbal explanation of chart: Point to the bar chart on the left. Each 768-dimensional FP32 vector (generated by nomic-embed-text) occupies 3,076 bytes as measured empirically by pg_column_size(embedding) (and 3,080 bytes under the documented 4d + 8 formula). In the tested schema, compression did not reduce the FP32 vector datum enough to avoid out-of-line TOAST storage (above PostgreSQL's approximate 2 KiB threshold on 8,192 B pages); the empirically recorded datum size was 3,076 B, stored out-of-line in pg_toast. Casting to 16-bit halfvec(768) reduces the datum to 1,544 bytes, keeping every vector inline inside the 8 KiB heap page.</a:t>
            </a:r>
          </a:p>
          <a:p>
            <a:r>
              <a:t>- Key numerical result: 3,076 B empirical FP32 datum vs. 1,544 B FP16 datum (49.80% empirical reduction; 49.87% by formula).</a:t>
            </a:r>
          </a:p>
          <a:p>
            <a:r>
              <a:t>- Qualification: Keep the 4-byte difference between empirical pg_column_size(vector(768)) = 3,076 B and the documented formula 4d + 8 = 3,080 B explicit; its exact internal cause remains unresolved in the available evidence.</a:t>
            </a:r>
          </a:p>
          <a:p>
            <a:r>
              <a:t>- Transition to Slide 3: Next, let us situate this problem within the peer-reviewed literature on RAG, HNSW, vector quantization, and ANN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RELATED WORK AND RESEARCH GAP:</a:t>
            </a:r>
          </a:p>
          <a:p>
            <a:r>
              <a:t>- What the slide means: Connects our study to five peer-reviewed publications [6–10] and defines our specific database-systems research gap.</a:t>
            </a:r>
          </a:p>
          <a:p>
            <a:r>
              <a:t>- Verbal explanation: Walk through the table on the left: Lewis et al. [10] introduced RAG; Malkov &amp; Yashunin [6] introduced HNSW graph indexing; Jégou et al. [7] introduced Product Quantization (PQ) using M subquantizers (distinct from HNSW degree m); Guo et al. [8] formulated an anisotropic quantization loss objective for inner-product/cosine search; and Aumüller et al. [9] established ANN-Benchmarks.</a:t>
            </a:r>
          </a:p>
          <a:p>
            <a:r>
              <a:t>- Crucial distinction to state aloud: Emphasize that PQ [7] and anisotropic quantization [8] are reviewed as literature context and were NOT implemented in our benchmark. Learned codebooks require offline training and can degrade under distribution shift when new rows are inserted. Our implemented method is deterministic IEEE 754 coordinate casting to halfvec(768) in pgvector [2].</a:t>
            </a:r>
          </a:p>
          <a:p>
            <a:r>
              <a:t>- Research gap: Within the reviewed literature, we address the empirical interaction between coordinate precision (FP32 vs. FP16) and PostgreSQL 18.4's 8 KiB page layout, TOAST storage [1], shared-buffer hits, planner cost decisions, and HNSW retrieval overlap.</a:t>
            </a:r>
          </a:p>
          <a:p>
            <a:r>
              <a:t>- Transition to Slide 4: Based on this gap, Slide 4 defines our four experimental objectives, scope boundary, and stage-by-stage corpus progression.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OBJECTIVES AND SCOPE:</a:t>
            </a:r>
          </a:p>
          <a:p>
            <a:r>
              <a:t>- What the slide means: Summarizes our four concrete objectives, defines our strict retrieval-layer scope boundary, and illustrates how the project scaled from Review 2 to Stage 4 v2.</a:t>
            </a:r>
          </a:p>
          <a:p>
            <a:r>
              <a:t>- Verbal explanation: Point to the four objectives on the left (disaggregated storage auditing, 100-trial latency benchmarking, Recall@K + Agreement@K evaluation, and Q0 EXPLAIN diagnostics) and the progression chart on the right showing how we expanded from 100 documents / 180 chunks in Review 2 to 550 documents / 1,001 chunks (Stages 1–3), and finally 2,729 documents / 5,000 chunks and 5,457 documents / 10,000 chunks (Stage 4 v2, where the project test suite passes 43/43 pytest tests across the implemented modules).</a:t>
            </a:r>
          </a:p>
          <a:p>
            <a:r>
              <a:t>- Crucial qualification: State clearly that our scope is strictly the database storage and vector retrieval layer. We do not claim to evaluate human relevance judgments (MS MARCO qrels) or downstream LLM generation quality.</a:t>
            </a:r>
          </a:p>
          <a:p>
            <a:r>
              <a:t>- Transition to Slide 5: Let us now examine the implemented 8-step system architecture and multi-database isolation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SYSTEM ARCHITECTURE AND DATA FLOW:</a:t>
            </a:r>
          </a:p>
          <a:p>
            <a:r>
              <a:t>- What the slide means: Shows our implemented 8-step benchmarking workflow—which decomposes the consolidated report's 7-stage system architecture overview (Figure 1) into 8 operational steps for display clarity—and explains why we separated ground-truth text tables from two-column vector representation tables.</a:t>
            </a:r>
          </a:p>
          <a:p>
            <a:r>
              <a:t>- Verbal explanation: Trace the flow clockwise from top-left (Step 1: BeIR/MS MARCO streaming) through Step 2 (atomic TSV caching with SHA-256 verification), Step 3 (deterministic 300-character chunking with 50-character overlap), Step 4 (local Ollama nomic-embed-text 768-D embedding generation, reusing the first 1,001 embeddings in read-only mode after verifying 1,001/1,001 SHA-256 hash matches), down to Step 5 (dedicated two-column tables chunks_{1k|5k|10k}_fp32 and _halfvec populated via in-database SQL casting embedding::halfvec(768)), Step 6 (HNSW index construction m=16, ef_construction=64), Step 7 (100-trial retrieval + Q0 EXPLAIN diagnostics), and Step 8 (verified CSV and report generation).</a:t>
            </a:r>
          </a:p>
          <a:p>
            <a:r>
              <a:t>- Crucial architectural distinction: The eight-step slide is a presentation-level decomposition of the report's seven-stage overview; the report's base ground-truth-table step is folded into Step 5 here. This is a grouping difference, not a methodology change. Empirical project Stages 1–4 remain distinct. The project test suite passes 43/43 pytest tests across the implemented modules, while LLM answer generation (Qwen) remains explicitly labelled as future work.</a:t>
            </a:r>
          </a:p>
          <a:p>
            <a:r>
              <a:t>- Transition to Slide 6: Slide 6 details the hardware, software, and experimental protocol governing these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EXPERIMENTAL SETUP AND METHODOLOGY:</a:t>
            </a:r>
          </a:p>
          <a:p>
            <a:r>
              <a:t>- What the slide means: Documents the verified hardware, software, database memory settings, and benchmark protocol from the consolidated report.</a:t>
            </a:r>
          </a:p>
          <a:p>
            <a:r>
              <a:t>- Verbal explanation: Walk through the three columns: (1) Hardware: Intel Core Ultra 9 185H with 32 GB RAM (~31.4 GB available) and NVMe SSD. Note carefully that at 10,000 chunks, the recorded inclusive footprint was 79.20 MiB for FP32 and 35.35 MiB for FP16, each below the configured 128 MB shared_buffers capacity—a capacity comparison, not proof of complete residency during every timed trial; (2) Software: PostgreSQL 18.4, pgvector 0.8.4 (noting older repo summaries list 18.0 / 0.5.0 badge and work_mem = 64 MB vs. 4 MB), Python 3.13.x (3.13.14 / 3.13.2) with 43/43 passing pytest tests across the implemented modules, and local Ollama with nomic-embed-text (768 dimensions), omitting an exact Ollama version string because historical files disagree (0.4.7 in handoff vs. 0.32.13 in Review 2); (3) Protocol: 20 fixed queries pre-embedded outside the timer, 2 warm-ups, and 5 measured passes = 100 timed executions per configuration.</a:t>
            </a:r>
          </a:p>
          <a:p>
            <a:r>
              <a:t>- Crucial methodological points: (a) The 100 trials repeat the same 20 fixed queries rather than sampling 100 independent queries from a general population; (b) Stage 3 and Stage 4 v2 use different timing boundaries (Stage 4 v2 moved SET GUCs outside the timed loop to time strictly cur.execute() + cur.fetchall()); and (c) src/scale_experiment.py passes top_k = max(top_k_values) = 10 in the timed loops.</a:t>
            </a:r>
          </a:p>
          <a:p>
            <a:r>
              <a:t>- Transition to Slide 7: With this protocol established, Slide 7 presents our first empirical results: physical storage and TOAST elimination.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STORAGE AND TOAST RESULTS:</a:t>
            </a:r>
          </a:p>
          <a:p>
            <a:r>
              <a:t>- What the slide means: Presents the disaggregated physical storage audit from chart1_storage.csv across 1,001, 5,000, and 10,000 chunks.</a:t>
            </a:r>
          </a:p>
          <a:p>
            <a:r>
              <a:t>- Verbal explanation: Keep three storage scopes strictly distinct when explaining the chart and table:</a:t>
            </a:r>
          </a:p>
          <a:p>
            <a:r>
              <a:t>  1. Pre-HNSW Base Relation Storage: 60.11% lower at 1,001 chunks (4.1328 MiB to 1.6484 MiB), 60.52% lower at 5,000 chunks (20.2031 MiB to 7.9766 MiB), and 60.56% lower at 10,000 chunks (40.3125 MiB to 15.8984 MiB).</a:t>
            </a:r>
          </a:p>
          <a:p>
            <a:r>
              <a:t>  2. Standalone HNSW Index Footprint: 49.90% lower at 1,001 chunks (3.8984 MiB to 1.9531 MiB) and 49.98% lower at 5,000 chunks (19.4766 MiB to 9.7422 MiB) and 10,000 chunks (38.8906 MiB to 19.4531 MiB).</a:t>
            </a:r>
          </a:p>
          <a:p>
            <a:r>
              <a:t>  3. Post-Index Inclusive Relation Storage (pg_total_relation_size, fork-reconciled with _fsm and _vm): 55.35% lower at 5,000 chunks (39.6797 MiB to 17.7188 MiB) and 55.37% lower at 10,000 chunks (79.2031 MiB to 35.3516 MiB).</a:t>
            </a:r>
          </a:p>
          <a:p>
            <a:r>
              <a:t>- Key physical mechanism: In the tested vector-only schema, FP16 eliminated 100% of out-of-line TOAST data payloads (0 B vs. 39.06 MiB for FP32 at 10k), leaving only an empty 8 KiB TOAST B-tree index shell.</a:t>
            </a:r>
          </a:p>
          <a:p>
            <a:r>
              <a:t>- Qualification: Note that no single post-index pg_total_relation_size catalog query was recorded at 1,001 chunks in Stage 3, so it is left unrecorded rather than invented.</a:t>
            </a:r>
          </a:p>
          <a:p>
            <a:r>
              <a:t>- Transition to Slide 8: Slide 8 focuses specifically on the standalone HNSW index footprint and single-run index build observations.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HNSW INDEX SIZE AND BUILD TIME:</a:t>
            </a:r>
          </a:p>
          <a:p>
            <a:r>
              <a:t>- What the slide means: Compares the standalone HNSW index footprint and single-run index build times across 1,001, 5,000, and 10,000 chunks under matched HNSW build parameters.</a:t>
            </a:r>
          </a:p>
          <a:p>
            <a:r>
              <a:t>- Verbal explanation: Point to the chart on the left: both representations used matched HNSW build parameters (m = 16, ef_construction = 64, where pgvector permits up to 2m = 32 links on layer 0), though this does not establish that the resulting FP32 and FP16 graph topologies are identical (HNSW level assignment is randomized by the algorithm, and precision-dependent distance comparisons may affect neighbour selection). Because pgvector's HNSW index stores the vector payload inside index tuples alongside neighbor link lists, halving coordinate precision cuts the standalone HNSW index size by 49.90% at 1,001 chunks (3.90 MiB to 1.95 MiB) and by 49.98% at both 5,000 chunks (19.48 MiB to 9.74 MiB) and 10,000 chunks (38.89 MiB to 19.45 MiB).</a:t>
            </a:r>
          </a:p>
          <a:p>
            <a:r>
              <a:t>- Single-run build time qualification: Point to the right-hand table: single-run wall-clock CREATE INDEX times were 0.2334 s (FP32) vs. 0.1606 s (FP16) at 1,001 chunks, 1.4615 s vs. 1.2640 s at 5,000 chunks, and 3.7617 s vs. 2.6411 s at 10,000 chunks. Emphasize that these are single-run observations without WAL volume or peak-RAM profiling, so we do not claim a statistically bounded build-time SLA or extrapolate general scaling laws.</a:t>
            </a:r>
          </a:p>
          <a:p>
            <a:r>
              <a:t>- Transition to Slide 9: Next, we examine how inline FP16 storage affects query latency, starting with exhaustive exact sequential search in Slide 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EXACT-SEARCH LATENCY:</a:t>
            </a:r>
          </a:p>
          <a:p>
            <a:r>
              <a:t>- What the slide means: Shows the Stage 4 v2 exhaustive exact sequential scan (Seq Scan) latency comparison at 5,000 and 10,000 chunks (chart4_latency.csv).</a:t>
            </a:r>
          </a:p>
          <a:p>
            <a:r>
              <a:t>- Verbal explanation: Point to the grouped bar chart and table:</a:t>
            </a:r>
          </a:p>
          <a:p>
            <a:r>
              <a:t>  - At 5,000 chunks, FP32 exact search averaged 42.285 ms (median 44.694 ms, IQR 16.018 ms), whereas inline FP16 exact search averaged 6.802 ms (median 6.277 ms, IQR 2.606 ms)—a 6.22x lower mean latency (83.91% lower) and 7.12x lower median latency (85.96% lower).</a:t>
            </a:r>
          </a:p>
          <a:p>
            <a:r>
              <a:t>  - At 10,000 chunks, FP32 exact search averaged 89.004 ms (median 92.664 ms, IQR 32.376 ms), whereas inline FP16 exact search averaged 12.301 ms (median 11.541 ms, IQR 2.866 ms)—a 7.24x lower mean latency (86.18% lower) and 8.03x lower median latency (87.55% lower).</a:t>
            </a:r>
          </a:p>
          <a:p>
            <a:r>
              <a:t>- Important qualification: State clearly that these are observed client-side timings for the Stage 4 v2 exact-search configuration (after replacing Stage 4 v1's duplicated distance-expression SQL and moving GUC setup outside the timer). While the improvement is consistent with avoiding out-of-line TOAST reconstruction and touching 93.35% fewer buffers in Q0, we do not claim that the single-query Q0 diagnostic alone proves per-trial causality or establishes universal performance across all database workloads.</a:t>
            </a:r>
          </a:p>
          <a:p>
            <a:r>
              <a:t>- Transition to Slide 10: How does this compare with approximate search using HNSW indexes? Slide 10 examines forced-HNSW latency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FORCED-HNSW LATENCY:</a:t>
            </a:r>
          </a:p>
          <a:p>
            <a:r>
              <a:t>- What the slide means: Displays Stage 4 v2 forced-HNSW latency separately from exact search so the two regimes are never conflated.</a:t>
            </a:r>
          </a:p>
          <a:p>
            <a:r>
              <a:t>- Verbal explanation: Point to the chart on the left: under forced HNSW (enable_seqscan = off, ef_search = 40), mean latency was 4.129 ms (FP32, with a maximum recorded latency of 42.670 ms) vs. 3.372 ms (FP16) at 5,000 chunks, and 3.674 ms (FP32) vs. 3.856 ms (FP16) at 10,000 chunks (with medians within ~0.4 ms: 3.415 ms vs. 3.820 ms).</a:t>
            </a:r>
          </a:p>
          <a:p>
            <a:r>
              <a:t>- Key takeaway and cautious cache interpretation: Exact-search latency was much lower for FP16, while forced-HNSW latency remained broadly similar and FP16 was slower at 10,000 chunks on the recorded means (+4.95% mean; +11.86% median in chart4_latency.csv / +11.84% in Stage 4 prose). The recorded Q0 plans reported shared read = 0 (with 753–930 buffer hits, which count buffer page accesses rather than unique graph nodes), and both the standalone HNSW index sizes (38.89 MiB and 19.45 MiB at 10k) and inclusive relation/index footprints (79.20 MiB and 35.35 MiB) fit within the configured 128 MB shared_buffers capacity at the tested scales. These observations are consistent with warm-cache behaviour, but do not prove complete buffer residency throughout every timed trial or isolate causality.</a:t>
            </a:r>
          </a:p>
          <a:p>
            <a:r>
              <a:t>- Transition to Slide 11: Having compared storage and latency, Slide 11 evaluates whether 16-bit coordinate quantization preserves top-K retrieval fidelity (Recall@K).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RECALL@K:</a:t>
            </a:r>
          </a:p>
          <a:p>
            <a:r>
              <a:t>- What the slide means: Reports representation-specific ANN Recall@K (chart3_hnsw_recall.csv) against uncompressed FP32 exact sequential scan ground truth on a zero-based 0.0–1.0 vertical axis with four-decimal labels.</a:t>
            </a:r>
          </a:p>
          <a:p>
            <a:r>
              <a:t>- Verbal explanation: Point to the chart and table:</a:t>
            </a:r>
          </a:p>
          <a:p>
            <a:r>
              <a:t>  - At 5,000 chunks, FP32 HNSW and FP16 HNSW tied at Recall@3 (0.9167) and Recall@5 (0.9100), and achieved 0.9550 (FP32) vs. 0.9600 (FP16) at Recall@10.</a:t>
            </a:r>
          </a:p>
          <a:p>
            <a:r>
              <a:t>  - At 10,000 chunks, FP32 HNSW recorded 0.9667 (K=3), 0.9500 (K=5), and 0.9450 (K=10), while FP16 HNSW recorded 0.9500 (K=3), 0.9400 (K=5), and 0.9600 (K=10). The measurements show slightly lower top-K set overlap with the FP32 exact reference for FP16 at K=3 and K=5 and 0.9600 at K=10; the available aggregate results do not establish a specific rank-wise or precision-rounding cause.</a:t>
            </a:r>
          </a:p>
          <a:p>
            <a:r>
              <a:t>- Why Recall@K need not increase monotonically with K: Unlike cumulative IR recall against a fixed set of relevant documents, our code (calculate_overlap_recall in src/scale_experiment.py) evaluates separate LIMIT K queries where both the ground-truth top-K set and the denominator K change with each cutoff. Thus, the 10k FP32 sequence (0.9667, 0.9500, 0.9450) is a mathematical property of the moving denominator K, not a confirmed benchmark error.</a:t>
            </a:r>
          </a:p>
          <a:p>
            <a:r>
              <a:t>- Historical Stage 2 note: Stage 2's unindexed FP16 exact Recall@3 = 0.9833 corresponds to 59 matching top-3 IDs out of 60 top-K slots across 20 queries; because raw per-query ID lists are not in the archive, the aggregate overlap does not establish the underlying cause.</a:t>
            </a:r>
          </a:p>
          <a:p>
            <a:r>
              <a:t>- Transition to Slide 12: Slide 12 examines direct pairwise agreement between FP32 HNSW and FP16 HNSW alongside the single-query Q0 buffer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PAIRWISE AGREEMENT@10 AND Q0 BUFFER DIAGNOSTICS:</a:t>
            </a:r>
          </a:p>
          <a:p>
            <a:r>
              <a:t>- What the slide means: Presents two distinct evaluations side by side—pairwise HNSW candidate-set Agreement@K across 20 queries (left chart) and single-query Query 0 (Q0) EXPLAIN (ANALYZE, BUFFERS) diagnostics across all 6 scale/mode combinations (right table).</a:t>
            </a:r>
          </a:p>
          <a:p>
            <a:r>
              <a:t>- Verbal explanation:</a:t>
            </a:r>
          </a:p>
          <a:p>
            <a:r>
              <a:t>  1. Left chart (Agreement@K): Measures the mean overlap fraction |S_FP32(q) ∩ S_FP16(q)| / K between the top-K candidates returned by FP32 HNSW and FP16 HNSW at ef_search = 40. Agreement@10 reached 1.0000 at 1,001 chunks, 0.9850 (98.50%) at 5,000 chunks, and 0.9500 (95.00%) at 10,000 chunks. State clearly that because the denominator is K rather than the union size, this is a symmetric top-K overlap fraction—not Jaccard similarity, semantic relevance, or LLM generation quality, and it is a completely separate metric from the Q0 buffer diagnostics on the right.</a:t>
            </a:r>
          </a:p>
          <a:p>
            <a:r>
              <a:t>  2. Right table (Single-Query Plan Diagnostics): Note the source provenance—the 1k rows come from Stage 2/3 report plan samples (available evidence does not establish that the 1k samples are specifically Query 0), while the 5k and 10k Q0 diagnostic rows come from chart2_q0_diagnostics.csv. On Query 0 ('what was the purpose of the manhattan project'), exact sequential scan recorded 93.32% fewer buffer hits at 1,001 chunks (3,010 to 201; 14.98× ratio) and 93.35% fewer buffer hits at 5,000 chunks (15,032 to 1,000; 15.03× ratio) and 10,000 chunks (30,064 to 2,000; 15.03× ratio), while Forced HNSW recorded 13.61% fewer buffer hits at 1k (595 to 514; 1.267 to 0.886 ms), 9.28% fewer buffer hits at 5k (830 to 753; 0.571 to 0.405 ms), and 8.92% fewer buffer hits at 10k (930 to 847; 0.624 to 0.503 ms).</a:t>
            </a:r>
          </a:p>
          <a:p>
            <a:r>
              <a:t>- Crucial qualification: Emphasize that all Q0 figures are single-query diagnostic observations (shared read = 0), not measurements across all 100 timed trials, and count runtime buffer page touches (including repeats) rather than unique pages or physical disk reads.</a:t>
            </a:r>
          </a:p>
          <a:p>
            <a:r>
              <a:t>- Transition to Slide 13: Next, Slide 13 examines how PostgreSQL's query planner models the cost of these two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QUERY PLANNER AND PRACTICAL TRADE-OFFS:</a:t>
            </a:r>
          </a:p>
          <a:p>
            <a:r>
              <a:t>- What the slide means: Explains the representation-specific query planner behaviour discovered across Stages 2, 3, and 4.</a:t>
            </a:r>
          </a:p>
          <a:p>
            <a:r>
              <a:t>- Verbal explanation: Point to the table on the right:</a:t>
            </a:r>
          </a:p>
          <a:p>
            <a:r>
              <a:t>  - At 1,001 chunks, the recorded plan shows that PostgreSQL selected HNSW Index Scan for FP32 and Seq Scan for FP16. FP32 had a much smaller main heap (7 blocks) because the large vectors were stored out-of-line in TOAST, while FP16 vectors remained inline (201 blocks). However, the unforced Stage 3 alternative-plan costs were not recorded, so the exact reason for the FP32 plan choice at 1,001 chunks cannot be established from the available artifacts.</a:t>
            </a:r>
          </a:p>
          <a:p>
            <a:r>
              <a:t>  - For FP16, the recorded Seq Scan plus Sort cost was 235.17 at 1,001 chunks; the alternative HNSW cost was not recorded (n/r). At 5,000 chunks, the recorded FP16 Index Scan + Limit cost of 529.00 was lower than the Seq Scan + Sort cost of 1170.57. At 10,000 chunks, the FP16 Index Scan remained the selected access path (566.31 vs. 2341.12).</a:t>
            </a:r>
          </a:p>
          <a:p>
            <a:r>
              <a:t>- Why FP32's forced Seq Scan cost estimate is smaller than FP16's: PostgreSQL's sequential scan cost estimator weights the main table heap's relpages (32 blocks at 5k and 64 blocks at 10k for FP32) without directly pricing out-of-line pg_toast pages like inline heap pages.</a:t>
            </a:r>
          </a:p>
          <a:p>
            <a:r>
              <a:t>- Qualification: State clearly that planner cost numbers are model units rather than elapsed times, and that our experiment does not establish the exact intermediate chunk count between 1,001 and 5,000 chunks where the FP16 crossover occurs.</a:t>
            </a:r>
          </a:p>
          <a:p>
            <a:r>
              <a:t>- Transition to Slide 14: Before stating our conclusions, Slide 14 summarizes the methodological limitations and threats to validity.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LIMITATIONS AND THREATS TO VALIDITY:</a:t>
            </a:r>
          </a:p>
          <a:p>
            <a:r>
              <a:t>- What the slide means: Organizes all methodological caveats into four clear validity categories so examiners see rigorous scientific self-assessment.</a:t>
            </a:r>
          </a:p>
          <a:p>
            <a:r>
              <a:t>- Verbal explanation: Summarize the four cards:</a:t>
            </a:r>
          </a:p>
          <a:p>
            <a:r>
              <a:t>  1. Internal &amp; Statistical Validity: Stage 3 and Stage 4 v2 timing boundaries are kept separate; the 100 trials per configuration repeat the same 20 fixed queries without formal significance tests or confidence intervals.</a:t>
            </a:r>
          </a:p>
          <a:p>
            <a:r>
              <a:t>  2. Construct &amp; External Validity: Recall@K and Agreement@K measure set overlap rather than human relevance judgments (qrels) or LLM answer quality; all runs executed on one laptop with one 768-D embedding model up to 10,000 chunks whose footprints (up to 79.20 MiB) are below the 128 MB shared_buffers capacity (a capacity comparison, not proof of complete residency on every trial). Also note that 1,536-dimensional halfvec(1536) = 3,080 B would still exceed the ≈2 KiB TOAST threshold.</a:t>
            </a:r>
          </a:p>
          <a:p>
            <a:r>
              <a:t>  3. Index-Build &amp; Q0 I/O Evidence: HNSW build times are single-run measurements, and Q0 buffer hits (shared read = 0) are single-query page-access counts rather than physical disk reads.</a:t>
            </a:r>
          </a:p>
          <a:p>
            <a:r>
              <a:t>  4. Source &amp; Archive Discrepancies: Discloses the 3,076 B empirical vs. 3,080 B formula datum size (unresolved in available evidence), unrecorded Stage 3 inclusive total and planner costs, Stage 2 Recall@3 = 0.9833 (59/60 overlap, cause not established), minor rounding differences (31.18% vs. 31.19%; 11.86% vs. 11.84%), and historical README/slide version differences.</a:t>
            </a:r>
          </a:p>
          <a:p>
            <a:r>
              <a:t>- Transition to Slide 15: Slide 15 synthesizes our three main conclusions and outlines four concrete directions for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CONCLUSION AND FUTURE WORK:</a:t>
            </a:r>
          </a:p>
          <a:p>
            <a:r>
              <a:t>- What the slide means: Summarizes the three main empirical findings of the completed project, acknowledges the submitted IDF and engineering deliverables, and outlines four future research directions.</a:t>
            </a:r>
          </a:p>
          <a:p>
            <a:r>
              <a:t>- Verbal explanation:</a:t>
            </a:r>
          </a:p>
          <a:p>
            <a:r>
              <a:t>  1. First, converting 768-dimensional embeddings to halfvec(768) eliminated 100% of out-of-line TOAST data payloads in our vector-only schema, reduced inclusive post-index storage by 55.35%–55.37%, and halved HNSW index size (49.90%–49.98%).</a:t>
            </a:r>
          </a:p>
          <a:p>
            <a:r>
              <a:t>  2. Second, inline FP16 achieved 6.22x–7.24x lower mean exact-search latency (7.12x–8.03x lower median) across 100 timed trials in Stage 4 v2, while forced-HNSW latency was broadly similar (~3.37–4.13 ms mean).</a:t>
            </a:r>
          </a:p>
          <a:p>
            <a:r>
              <a:t>  3. Third, retrieval overlap remained high (0.9600 Recall@10 and 0.9500–0.9850 Agreement@10), with the explicit caveat that set-overlap metrics do not establish human-judged semantic relevance or end-to-end LLM answer quality.</a:t>
            </a:r>
          </a:p>
          <a:p>
            <a:r>
              <a:t>  4. Also note that the project test suite passes 43/43 pytest tests across the implemented modules, and a project-related Invention Disclosure Form (IDF) was submitted through the institutional process (acknowledged strictly as an invention disclosure, not a filed or granted patent).</a:t>
            </a:r>
          </a:p>
          <a:p>
            <a:r>
              <a:t>  5. For Future Work item 1, explain that future scaling experiments under memory pressure should record PostgreSQL shared-buffer reads and use appropriate operating-system-level I/O instrumentation where physical disk-I/O evidence is required, because a nonzero PostgreSQL shared-read count alone does not prove that data was read from physical storage rather than satisfied by the OS page cache.</a:t>
            </a:r>
          </a:p>
          <a:p>
            <a:r>
              <a:t>- Transition to Slide 16: Our final slide (Slide 16) lists the peer-reviewed academic references and core technical documentation cited throughout this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REFERENCES:</a:t>
            </a:r>
          </a:p>
          <a:p>
            <a:r>
              <a:t>- What the slide means: Displays all ten verified references from Section 9 of the consolidated report—specifically the five peer-reviewed scholarly publications [6–10] and the five primary technical/dataset references [1–5], with DOIs or official URLs where available.</a:t>
            </a:r>
          </a:p>
          <a:p>
            <a:r>
              <a:t>- Verbal explanation: Highlight how our experimental design bridges the peer-reviewed literature on RAG [10], HNSW [6], vector quantization [7, 8], and ANN benchmarking [9] with the official PostgreSQL 18 TOAST storage architecture (Chapter 66, Section 66.2) [1] and pgvector 0.8.4 [2] over the BeIR/MS MARCO passage corpus [3].</a:t>
            </a:r>
          </a:p>
          <a:p>
            <a:r>
              <a:t>- Closing: Thank Dr. D. Anuradha and the examination panel and invite viva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822960" y="1234440"/>
            <a:ext cx="10515600" cy="4480560"/>
          </a:xfrm>
          <a:prstGeom prst="rect">
            <a:avLst/>
          </a:prstGeom>
          <a:noFill/>
        </p:spPr>
        <p:txBody>
          <a:bodyPr wrap="square" anchor="t" lIns="0" tIns="0" rIns="0" bIns="0">
            <a:spAutoFit/>
          </a:bodyPr>
          <a:lstStyle/>
          <a:p>
            <a:pPr>
              <a:spcAft>
                <a:spcPts val="1400"/>
              </a:spcAft>
            </a:pPr>
            <a:r>
              <a:rPr sz="1500" b="1" i="0">
                <a:solidFill>
                  <a:srgbClr val="8FB8D6"/>
                </a:solidFill>
                <a:latin typeface="Calibri"/>
              </a:rPr>
              <a:t>FINAL PROJECT PRESENTATION  ·  BCSE302P</a:t>
            </a:r>
          </a:p>
          <a:p>
            <a:pPr>
              <a:spcAft>
                <a:spcPts val="1800"/>
              </a:spcAft>
            </a:pPr>
            <a:r>
              <a:rPr sz="3400" b="1" i="0">
                <a:solidFill>
                  <a:srgbClr val="FFFFFF"/>
                </a:solidFill>
                <a:latin typeface="Calibri"/>
              </a:rPr>
              <a:t>Compression-Aware Vector Database Indexing for Memory-Efficient and Low-Latency Retrieval-Augmented Generation (RAG)</a:t>
            </a:r>
          </a:p>
          <a:p>
            <a:pPr>
              <a:spcAft>
                <a:spcPts val="800"/>
              </a:spcAft>
            </a:pPr>
            <a:r>
              <a:rPr sz="1550" b="0" i="0">
                <a:solidFill>
                  <a:srgbClr val="CADCFC"/>
                </a:solidFill>
                <a:latin typeface="Calibri"/>
              </a:rPr>
              <a:t>Vellore Institute of Technology (VIT), Vellore  |  Yash Pradhan (24BCE0702) &amp; Anjini Pandey (24BCE0714)  |  Supervisor: Dr. D. Anuradha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1. PROBLEM &amp; MOTIVATION</a:t>
            </a:r>
          </a:p>
          <a:p>
            <a:pPr algn="l">
              <a:spcAft>
                <a:spcPts val="300"/>
              </a:spcAft>
            </a:pPr>
            <a:r>
              <a:rPr sz="2700" b="1" i="0">
                <a:solidFill>
                  <a:srgbClr val="21295C"/>
                </a:solidFill>
                <a:latin typeface="Calibri"/>
              </a:rPr>
              <a:t>768-D FP32 Vectors Exceed PostgreSQL's ≈2 KiB TOAST Threshold</a:t>
            </a:r>
          </a:p>
          <a:p>
            <a:pPr algn="l"/>
            <a:r>
              <a:rPr sz="1350" b="0" i="0">
                <a:solidFill>
                  <a:srgbClr val="5B6472"/>
                </a:solidFill>
                <a:latin typeface="Calibri"/>
              </a:rPr>
              <a:t>Investigating the three-way trade-off across physical storage, query latency, and top-K retrieval fidelity</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2 / 16</a:t>
            </a:r>
          </a:p>
        </p:txBody>
      </p:sp>
      <p:graphicFrame>
        <p:nvGraphicFramePr>
          <p:cNvPr id="7" name="Chart 6"/>
          <p:cNvGraphicFramePr>
            <a:graphicFrameLocks noGrp="1"/>
          </p:cNvGraphicFramePr>
          <p:nvPr/>
        </p:nvGraphicFramePr>
        <p:xfrm>
          <a:off x="640080" y="2057400"/>
          <a:ext cx="5257800" cy="4023360"/>
        </p:xfrm>
        <a:graphic>
          <a:graphicData uri="http://schemas.openxmlformats.org/drawingml/2006/chart">
            <c:chart xmlns:c="http://schemas.openxmlformats.org/drawingml/2006/chart" r:id="rId2"/>
          </a:graphicData>
        </a:graphic>
      </p:graphicFrame>
      <p:sp>
        <p:nvSpPr>
          <p:cNvPr id="8" name="Rounded Rectangle 7"/>
          <p:cNvSpPr/>
          <p:nvPr/>
        </p:nvSpPr>
        <p:spPr>
          <a:xfrm>
            <a:off x="6126480" y="2057400"/>
            <a:ext cx="5422392" cy="2267712"/>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6126480" y="4462272"/>
            <a:ext cx="5422392" cy="1664208"/>
          </a:xfrm>
          <a:prstGeom prst="roundRect">
            <a:avLst>
              <a:gd name="adj" fmla="val 4000"/>
            </a:avLst>
          </a:prstGeom>
          <a:solidFill>
            <a:srgbClr val="E6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327648" y="2194560"/>
            <a:ext cx="5020056" cy="1993392"/>
          </a:xfrm>
          <a:prstGeom prst="rect">
            <a:avLst/>
          </a:prstGeom>
          <a:noFill/>
        </p:spPr>
        <p:txBody>
          <a:bodyPr wrap="square" anchor="t" lIns="0" tIns="0" rIns="0" bIns="0">
            <a:spAutoFit/>
          </a:bodyPr>
          <a:lstStyle/>
          <a:p>
            <a:pPr>
              <a:spcAft>
                <a:spcPts val="500"/>
              </a:spcAft>
            </a:pPr>
            <a:r>
              <a:rPr sz="1500" b="1" i="0">
                <a:solidFill>
                  <a:srgbClr val="065A82"/>
                </a:solidFill>
                <a:latin typeface="Calibri"/>
              </a:rPr>
              <a:t>PostgreSQL 8 KiB Page (BLCKSZ = 8,192 B) &amp; TOAST Mechanics</a:t>
            </a:r>
          </a:p>
          <a:p>
            <a:pPr marL="201168" indent="-201168">
              <a:spcAft>
                <a:spcPts val="450"/>
              </a:spcAft>
              <a:buFont typeface="Calibri"/>
              <a:buChar char="•"/>
            </a:pPr>
            <a:r>
              <a:rPr sz="1200" b="1" i="0">
                <a:solidFill>
                  <a:srgbClr val="1A1A2E"/>
                </a:solidFill>
                <a:latin typeface="Calibri"/>
              </a:rPr>
              <a:t>FP32 vector(768) = 3,076 B: </a:t>
            </a:r>
            <a:r>
              <a:rPr sz="1160" b="0" i="0">
                <a:solidFill>
                  <a:srgbClr val="5B6472"/>
                </a:solidFill>
                <a:latin typeface="Calibri"/>
              </a:rPr>
              <a:t>In the tested schema, compression did not reduce the FP32 vector datum enough to avoid out-of-line TOAST storage; the empirically recorded datum size was 3,076 B (3,080 B by 4d+8 formula) [1, 2].</a:t>
            </a:r>
          </a:p>
          <a:p>
            <a:pPr marL="201168" indent="-201168">
              <a:spcAft>
                <a:spcPts val="450"/>
              </a:spcAft>
              <a:buFont typeface="Calibri"/>
              <a:buChar char="•"/>
            </a:pPr>
            <a:r>
              <a:rPr sz="1200" b="1" i="0">
                <a:solidFill>
                  <a:srgbClr val="1A1A2E"/>
                </a:solidFill>
                <a:latin typeface="Calibri"/>
              </a:rPr>
              <a:t>FP16 halfvec(768) = 1,544 B: </a:t>
            </a:r>
            <a:r>
              <a:rPr sz="1160" b="0" i="0">
                <a:solidFill>
                  <a:srgbClr val="5B6472"/>
                </a:solidFill>
                <a:latin typeface="Calibri"/>
              </a:rPr>
              <a:t>Deterministic 16-bit IEEE 754 cast cuts datum size by 49.80% (49.87% by formula), staying inline in the 8 KiB heap page with 0 B TOAST data payload.</a:t>
            </a:r>
          </a:p>
        </p:txBody>
      </p:sp>
      <p:sp>
        <p:nvSpPr>
          <p:cNvPr id="11" name="TextBox 10"/>
          <p:cNvSpPr txBox="1"/>
          <p:nvPr/>
        </p:nvSpPr>
        <p:spPr>
          <a:xfrm>
            <a:off x="6327648" y="4590288"/>
            <a:ext cx="5020056" cy="1408176"/>
          </a:xfrm>
          <a:prstGeom prst="rect">
            <a:avLst/>
          </a:prstGeom>
          <a:noFill/>
        </p:spPr>
        <p:txBody>
          <a:bodyPr wrap="square" anchor="t" lIns="0" tIns="0" rIns="0" bIns="0">
            <a:spAutoFit/>
          </a:bodyPr>
          <a:lstStyle/>
          <a:p>
            <a:pPr>
              <a:spcAft>
                <a:spcPts val="400"/>
              </a:spcAft>
            </a:pPr>
            <a:r>
              <a:rPr sz="1500" b="1" i="0">
                <a:solidFill>
                  <a:srgbClr val="006D5B"/>
                </a:solidFill>
                <a:latin typeface="Calibri"/>
              </a:rPr>
              <a:t>Core Engineering Question: The Three-Way Trade-Off</a:t>
            </a:r>
          </a:p>
          <a:p>
            <a:pPr marL="201168" indent="-201168">
              <a:spcAft>
                <a:spcPts val="250"/>
              </a:spcAft>
              <a:buFont typeface="Calibri"/>
              <a:buChar char="•"/>
            </a:pPr>
            <a:r>
              <a:rPr sz="1200" b="1" i="0">
                <a:solidFill>
                  <a:srgbClr val="1A1A2E"/>
                </a:solidFill>
                <a:latin typeface="Calibri"/>
              </a:rPr>
              <a:t>1. Physical Storage: </a:t>
            </a:r>
            <a:r>
              <a:rPr sz="1160" b="0" i="0">
                <a:solidFill>
                  <a:srgbClr val="5B6472"/>
                </a:solidFill>
                <a:latin typeface="Calibri"/>
              </a:rPr>
              <a:t>How much heap, TOAST, and HNSW index space does FP16 save?</a:t>
            </a:r>
          </a:p>
          <a:p>
            <a:pPr marL="201168" indent="-201168">
              <a:spcAft>
                <a:spcPts val="250"/>
              </a:spcAft>
              <a:buFont typeface="Calibri"/>
              <a:buChar char="•"/>
            </a:pPr>
            <a:r>
              <a:rPr sz="1200" b="1" i="0">
                <a:solidFill>
                  <a:srgbClr val="1A1A2E"/>
                </a:solidFill>
                <a:latin typeface="Calibri"/>
              </a:rPr>
              <a:t>2. Query Latency: </a:t>
            </a:r>
            <a:r>
              <a:rPr sz="1160" b="0" i="0">
                <a:solidFill>
                  <a:srgbClr val="5B6472"/>
                </a:solidFill>
                <a:latin typeface="Calibri"/>
              </a:rPr>
              <a:t>Does inline FP16 storage reduce exact-scan or HNSW latency?</a:t>
            </a:r>
          </a:p>
          <a:p>
            <a:pPr marL="201168" indent="-201168">
              <a:spcAft>
                <a:spcPts val="250"/>
              </a:spcAft>
              <a:buFont typeface="Calibri"/>
              <a:buChar char="•"/>
            </a:pPr>
            <a:r>
              <a:rPr sz="1200" b="1" i="0">
                <a:solidFill>
                  <a:srgbClr val="1A1A2E"/>
                </a:solidFill>
                <a:latin typeface="Calibri"/>
              </a:rPr>
              <a:t>3. Retrieval Fidelity: </a:t>
            </a:r>
            <a:r>
              <a:rPr sz="1160" b="0" i="0">
                <a:solidFill>
                  <a:srgbClr val="5B6472"/>
                </a:solidFill>
                <a:latin typeface="Calibri"/>
              </a:rPr>
              <a:t>Does 16-bit precision preserve Recall@K and HNSW agreement?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2. RELATED WORK &amp; RESEARCH GAP</a:t>
            </a:r>
          </a:p>
          <a:p>
            <a:pPr algn="l">
              <a:spcAft>
                <a:spcPts val="300"/>
              </a:spcAft>
            </a:pPr>
            <a:r>
              <a:rPr sz="2700" b="1" i="0">
                <a:solidFill>
                  <a:srgbClr val="21295C"/>
                </a:solidFill>
                <a:latin typeface="Calibri"/>
              </a:rPr>
              <a:t>Peer-Reviewed Foundations [6–10] vs. PostgreSQL Storage Mechanics</a:t>
            </a:r>
          </a:p>
          <a:p>
            <a:pPr algn="l"/>
            <a:r>
              <a:rPr sz="1350" b="0" i="0">
                <a:solidFill>
                  <a:srgbClr val="5B6472"/>
                </a:solidFill>
                <a:latin typeface="Calibri"/>
              </a:rPr>
              <a:t>Distinguishing learned codebook quantization in literature from deterministic halfvec(768) casting in PostgreSQL</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3 / 16</a:t>
            </a:r>
          </a:p>
        </p:txBody>
      </p:sp>
      <p:graphicFrame>
        <p:nvGraphicFramePr>
          <p:cNvPr id="7" name="Table 6"/>
          <p:cNvGraphicFramePr>
            <a:graphicFrameLocks noGrp="1"/>
          </p:cNvGraphicFramePr>
          <p:nvPr/>
        </p:nvGraphicFramePr>
        <p:xfrm>
          <a:off x="640080" y="2029968"/>
          <a:ext cx="6720839" cy="4069080"/>
        </p:xfrm>
        <a:graphic>
          <a:graphicData uri="http://schemas.openxmlformats.org/drawingml/2006/table">
            <a:tbl>
              <a:tblPr firstRow="1" bandRow="1">
                <a:tableStyleId>{5C22544A-7EE6-4342-B048-85BDC9FD1C3A}</a:tableStyleId>
              </a:tblPr>
              <a:tblGrid>
                <a:gridCol w="1874519"/>
                <a:gridCol w="2331720"/>
                <a:gridCol w="2514600"/>
              </a:tblGrid>
              <a:tr h="678180">
                <a:tc>
                  <a:txBody>
                    <a:bodyPr/>
                    <a:lstStyle/>
                    <a:p>
                      <a:pPr algn="l">
                        <a:spcBef>
                          <a:spcPts val="0"/>
                        </a:spcBef>
                        <a:spcAft>
                          <a:spcPts val="0"/>
                        </a:spcAft>
                      </a:pPr>
                      <a:r>
                        <a:rPr sz="1150" b="1" i="0">
                          <a:solidFill>
                            <a:srgbClr val="FFFFFF"/>
                          </a:solidFill>
                          <a:latin typeface="Calibri"/>
                        </a:rPr>
                        <a:t>Ref &amp; Authors</a:t>
                      </a:r>
                    </a:p>
                  </a:txBody>
                  <a:tcPr anchor="ctr" marT="20000" marB="20000" marL="42000" marR="4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150" b="1" i="0">
                          <a:solidFill>
                            <a:srgbClr val="FFFFFF"/>
                          </a:solidFill>
                          <a:latin typeface="Calibri"/>
                        </a:rPr>
                        <a:t>Core Contribution</a:t>
                      </a:r>
                    </a:p>
                  </a:txBody>
                  <a:tcPr anchor="ctr" marT="20000" marB="20000" marL="42000" marR="4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150" b="1" i="0">
                          <a:solidFill>
                            <a:srgbClr val="FFFFFF"/>
                          </a:solidFill>
                          <a:latin typeface="Calibri"/>
                        </a:rPr>
                        <a:t>Relationship to Our Project</a:t>
                      </a:r>
                    </a:p>
                  </a:txBody>
                  <a:tcPr anchor="ctr" marT="20000" marB="20000" marL="42000" marR="42000">
                    <a:solidFill>
                      <a:srgbClr val="065A82"/>
                    </a:solidFill>
                    <a:lnT w="6350" cap="flat" cmpd="sng" algn="ctr">
                      <a:solidFill>
                        <a:srgbClr val="D0D7DE"/>
                      </a:solidFill>
                    </a:lnT>
                    <a:lnB w="6350" cap="flat" cmpd="sng" algn="ctr">
                      <a:solidFill>
                        <a:srgbClr val="D0D7DE"/>
                      </a:solidFill>
                    </a:lnB>
                    <a:lnL w="0">
                      <a:noFill/>
                    </a:lnL>
                    <a:lnR w="0">
                      <a:noFill/>
                    </a:lnR>
                  </a:tcPr>
                </a:tc>
              </a:tr>
              <a:tr h="678180">
                <a:tc>
                  <a:txBody>
                    <a:bodyPr/>
                    <a:lstStyle/>
                    <a:p>
                      <a:pPr algn="l">
                        <a:spcBef>
                          <a:spcPts val="0"/>
                        </a:spcBef>
                        <a:spcAft>
                          <a:spcPts val="0"/>
                        </a:spcAft>
                      </a:pPr>
                      <a:r>
                        <a:rPr sz="1080" b="1" i="0">
                          <a:solidFill>
                            <a:srgbClr val="1A1A2E"/>
                          </a:solidFill>
                          <a:latin typeface="Calibri"/>
                        </a:rPr>
                        <a:t>[6] Malkov &amp; Yashunin (2020)
IEEE TPAMI</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HNSW multi-layer proximity graphs (m, ef_construction, ef_search).</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Implemented via pgvector HNSW (m=16, ef_c=64, ef_s=40) [2].</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r>
              <a:tr h="678180">
                <a:tc>
                  <a:txBody>
                    <a:bodyPr/>
                    <a:lstStyle/>
                    <a:p>
                      <a:pPr algn="l">
                        <a:spcBef>
                          <a:spcPts val="0"/>
                        </a:spcBef>
                        <a:spcAft>
                          <a:spcPts val="0"/>
                        </a:spcAft>
                      </a:pPr>
                      <a:r>
                        <a:rPr sz="1080" b="1" i="0">
                          <a:solidFill>
                            <a:srgbClr val="1A1A2E"/>
                          </a:solidFill>
                          <a:latin typeface="Calibri"/>
                        </a:rPr>
                        <a:t>[7] Jégou, Douze &amp; Schmid (2011)
IEEE TPAMI</a:t>
                      </a:r>
                    </a:p>
                  </a:txBody>
                  <a:tcPr anchor="ctr" marT="20000" marB="20000" marL="42000" marR="4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Product Quantization (PQ): M subvectors x b-bit learned codebooks.</a:t>
                      </a:r>
                    </a:p>
                  </a:txBody>
                  <a:tcPr anchor="ctr" marT="20000" marB="20000" marL="42000" marR="4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Literature context only (not implemented); requires codebook training.</a:t>
                      </a:r>
                    </a:p>
                  </a:txBody>
                  <a:tcPr anchor="ctr" marT="20000" marB="20000" marL="42000" marR="42000">
                    <a:solidFill>
                      <a:srgbClr val="F4F7F9"/>
                    </a:solidFill>
                    <a:lnT w="6350" cap="flat" cmpd="sng" algn="ctr">
                      <a:solidFill>
                        <a:srgbClr val="D0D7DE"/>
                      </a:solidFill>
                    </a:lnT>
                    <a:lnB w="6350" cap="flat" cmpd="sng" algn="ctr">
                      <a:solidFill>
                        <a:srgbClr val="D0D7DE"/>
                      </a:solidFill>
                    </a:lnB>
                    <a:lnL w="0">
                      <a:noFill/>
                    </a:lnL>
                    <a:lnR w="0">
                      <a:noFill/>
                    </a:lnR>
                  </a:tcPr>
                </a:tc>
              </a:tr>
              <a:tr h="678180">
                <a:tc>
                  <a:txBody>
                    <a:bodyPr/>
                    <a:lstStyle/>
                    <a:p>
                      <a:pPr algn="l">
                        <a:spcBef>
                          <a:spcPts val="0"/>
                        </a:spcBef>
                        <a:spcAft>
                          <a:spcPts val="0"/>
                        </a:spcAft>
                      </a:pPr>
                      <a:r>
                        <a:rPr sz="1080" b="1" i="0">
                          <a:solidFill>
                            <a:srgbClr val="1A1A2E"/>
                          </a:solidFill>
                          <a:latin typeface="Calibri"/>
                        </a:rPr>
                        <a:t>[8] Guo et al. (2020)
ICML (PMLR v119)</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Anisotropic quantization loss penalizing parallel reconstruction error.</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Literature context only (training objective, not a storage format).</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r>
              <a:tr h="678180">
                <a:tc>
                  <a:txBody>
                    <a:bodyPr/>
                    <a:lstStyle/>
                    <a:p>
                      <a:pPr algn="l">
                        <a:spcBef>
                          <a:spcPts val="0"/>
                        </a:spcBef>
                        <a:spcAft>
                          <a:spcPts val="0"/>
                        </a:spcAft>
                      </a:pPr>
                      <a:r>
                        <a:rPr sz="1080" b="1" i="0">
                          <a:solidFill>
                            <a:srgbClr val="1A1A2E"/>
                          </a:solidFill>
                          <a:latin typeface="Calibri"/>
                        </a:rPr>
                        <a:t>[9] Aumüller et al. (2020)
Information Systems</a:t>
                      </a:r>
                    </a:p>
                  </a:txBody>
                  <a:tcPr anchor="ctr" marT="20000" marB="20000" marL="42000" marR="4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ANN-Benchmarks: Recall@K vs. latency/build cost trade-off.</a:t>
                      </a:r>
                    </a:p>
                  </a:txBody>
                  <a:tcPr anchor="ctr" marT="20000" marB="20000" marL="42000" marR="4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Evaluates standalone in-RAM indexes without DBMS page/TOAST layout.</a:t>
                      </a:r>
                    </a:p>
                  </a:txBody>
                  <a:tcPr anchor="ctr" marT="20000" marB="20000" marL="42000" marR="42000">
                    <a:solidFill>
                      <a:srgbClr val="F4F7F9"/>
                    </a:solidFill>
                    <a:lnT w="6350" cap="flat" cmpd="sng" algn="ctr">
                      <a:solidFill>
                        <a:srgbClr val="D0D7DE"/>
                      </a:solidFill>
                    </a:lnT>
                    <a:lnB w="6350" cap="flat" cmpd="sng" algn="ctr">
                      <a:solidFill>
                        <a:srgbClr val="D0D7DE"/>
                      </a:solidFill>
                    </a:lnB>
                    <a:lnL w="0">
                      <a:noFill/>
                    </a:lnL>
                    <a:lnR w="0">
                      <a:noFill/>
                    </a:lnR>
                  </a:tcPr>
                </a:tc>
              </a:tr>
              <a:tr h="678180">
                <a:tc>
                  <a:txBody>
                    <a:bodyPr/>
                    <a:lstStyle/>
                    <a:p>
                      <a:pPr algn="l">
                        <a:spcBef>
                          <a:spcPts val="0"/>
                        </a:spcBef>
                        <a:spcAft>
                          <a:spcPts val="0"/>
                        </a:spcAft>
                      </a:pPr>
                      <a:r>
                        <a:rPr sz="1080" b="1" i="0">
                          <a:solidFill>
                            <a:srgbClr val="1A1A2E"/>
                          </a:solidFill>
                          <a:latin typeface="Calibri"/>
                        </a:rPr>
                        <a:t>[10] Lewis et al. (2020)
NeurIPS</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Retrieval-Augmented Generation (RAG) with dense vector retrieval.</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0" i="0">
                          <a:solidFill>
                            <a:srgbClr val="1A1A2E"/>
                          </a:solidFill>
                          <a:latin typeface="Calibri"/>
                        </a:rPr>
                        <a:t>Motivates fast, low-memory top-K passage retrieval over MS MARCO [3].</a:t>
                      </a:r>
                    </a:p>
                  </a:txBody>
                  <a:tcPr anchor="ctr" marT="20000" marB="20000" marL="42000" marR="42000">
                    <a:solidFill>
                      <a:srgbClr val="FFFFFF"/>
                    </a:solidFill>
                    <a:lnT w="6350" cap="flat" cmpd="sng" algn="ctr">
                      <a:solidFill>
                        <a:srgbClr val="D0D7DE"/>
                      </a:solidFill>
                    </a:lnT>
                    <a:lnB w="6350" cap="flat" cmpd="sng" algn="ctr">
                      <a:solidFill>
                        <a:srgbClr val="D0D7DE"/>
                      </a:solidFill>
                    </a:lnB>
                    <a:lnL w="0">
                      <a:noFill/>
                    </a:lnL>
                    <a:lnR w="0">
                      <a:noFill/>
                    </a:lnR>
                  </a:tcPr>
                </a:tc>
              </a:tr>
            </a:tbl>
          </a:graphicData>
        </a:graphic>
      </p:graphicFrame>
      <p:sp>
        <p:nvSpPr>
          <p:cNvPr id="8" name="Rounded Rectangle 7"/>
          <p:cNvSpPr/>
          <p:nvPr/>
        </p:nvSpPr>
        <p:spPr>
          <a:xfrm>
            <a:off x="7543800" y="2029968"/>
            <a:ext cx="4005072" cy="4069080"/>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44968" y="2194560"/>
            <a:ext cx="3602736" cy="3749039"/>
          </a:xfrm>
          <a:prstGeom prst="rect">
            <a:avLst/>
          </a:prstGeom>
          <a:noFill/>
        </p:spPr>
        <p:txBody>
          <a:bodyPr wrap="square" anchor="t" lIns="0" tIns="0" rIns="0" bIns="0">
            <a:spAutoFit/>
          </a:bodyPr>
          <a:lstStyle/>
          <a:p>
            <a:pPr>
              <a:spcAft>
                <a:spcPts val="500"/>
              </a:spcAft>
            </a:pPr>
            <a:r>
              <a:rPr sz="1550" b="1" i="0">
                <a:solidFill>
                  <a:srgbClr val="21295C"/>
                </a:solidFill>
                <a:latin typeface="Calibri"/>
              </a:rPr>
              <a:t>Focused Database Engineering Gap</a:t>
            </a:r>
          </a:p>
          <a:p>
            <a:pPr marL="201168" indent="-201168">
              <a:spcAft>
                <a:spcPts val="450"/>
              </a:spcAft>
              <a:buFont typeface="Calibri"/>
              <a:buChar char="•"/>
            </a:pPr>
            <a:r>
              <a:rPr sz="1200" b="1" i="0">
                <a:solidFill>
                  <a:srgbClr val="065A82"/>
                </a:solidFill>
                <a:latin typeface="Calibri"/>
              </a:rPr>
              <a:t>Standalone vs. RDBMS: </a:t>
            </a:r>
            <a:r>
              <a:rPr sz="1140" b="0" i="0">
                <a:solidFill>
                  <a:srgbClr val="1A1A2E"/>
                </a:solidFill>
                <a:latin typeface="Calibri"/>
              </a:rPr>
              <a:t>In-memory ANN benchmarks [9] and codebook studies [7, 8] do not measure interactions with PostgreSQL's 8 KiB heap pages, pg_toast tables, shared buffers, and planner costs [1, 2].</a:t>
            </a:r>
          </a:p>
          <a:p>
            <a:pPr marL="201168" indent="-201168">
              <a:spcAft>
                <a:spcPts val="450"/>
              </a:spcAft>
              <a:buFont typeface="Calibri"/>
              <a:buChar char="•"/>
            </a:pPr>
            <a:r>
              <a:rPr sz="1200" b="1" i="0">
                <a:solidFill>
                  <a:srgbClr val="065A82"/>
                </a:solidFill>
                <a:latin typeface="Calibri"/>
              </a:rPr>
              <a:t>What We Evaluate: </a:t>
            </a:r>
            <a:r>
              <a:rPr sz="1140" b="0" i="0">
                <a:solidFill>
                  <a:srgbClr val="1A1A2E"/>
                </a:solidFill>
                <a:latin typeface="Calibri"/>
              </a:rPr>
              <a:t>Controlled comparison of vector(768) (FP32) vs. halfvec(768) (FP16) on isolated tables across storage forks, HNSW index size, 100-trial latency, Q0 buffer hits, planner path selection, Recall@K, and Agreement@K.</a:t>
            </a:r>
          </a:p>
          <a:p>
            <a:pPr marL="201168" indent="-201168">
              <a:spcAft>
                <a:spcPts val="450"/>
              </a:spcAft>
              <a:buFont typeface="Calibri"/>
              <a:buChar char="•"/>
            </a:pPr>
            <a:r>
              <a:rPr sz="1200" b="1" i="0">
                <a:solidFill>
                  <a:srgbClr val="065A82"/>
                </a:solidFill>
                <a:latin typeface="Calibri"/>
              </a:rPr>
              <a:t>Implementation Scope: </a:t>
            </a:r>
            <a:r>
              <a:rPr sz="1140" b="0" i="0">
                <a:solidFill>
                  <a:srgbClr val="1A1A2E"/>
                </a:solidFill>
                <a:latin typeface="Calibri"/>
              </a:rPr>
              <a:t>PQ [7] and anisotropic quantization [8] are related research approaches, NOT implemented here; our benchmark uses deterministic SQL casting (embedding::halfvec(768)).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3. OBJECTIVES &amp; SCOPE</a:t>
            </a:r>
          </a:p>
          <a:p>
            <a:pPr algn="l">
              <a:spcAft>
                <a:spcPts val="300"/>
              </a:spcAft>
            </a:pPr>
            <a:r>
              <a:rPr sz="2700" b="1" i="0">
                <a:solidFill>
                  <a:srgbClr val="21295C"/>
                </a:solidFill>
                <a:latin typeface="Calibri"/>
              </a:rPr>
              <a:t>Four Experimental Objectives and Multi-Stage Corpus Progression</a:t>
            </a:r>
          </a:p>
          <a:p>
            <a:pPr algn="l"/>
            <a:r>
              <a:rPr sz="1350" b="0" i="0">
                <a:solidFill>
                  <a:srgbClr val="5B6472"/>
                </a:solidFill>
                <a:latin typeface="Calibri"/>
              </a:rPr>
              <a:t>Focused evaluation of the PostgreSQL vector retrieval layer from 180-chunk baseline to 10,000-chunk scale</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4 / 16</a:t>
            </a:r>
          </a:p>
        </p:txBody>
      </p:sp>
      <p:sp>
        <p:nvSpPr>
          <p:cNvPr id="7" name="Rounded Rectangle 6"/>
          <p:cNvSpPr/>
          <p:nvPr/>
        </p:nvSpPr>
        <p:spPr>
          <a:xfrm>
            <a:off x="640080" y="2029968"/>
            <a:ext cx="5806440" cy="2523744"/>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640080" y="4663440"/>
            <a:ext cx="5806440" cy="1481328"/>
          </a:xfrm>
          <a:prstGeom prst="roundRect">
            <a:avLst>
              <a:gd name="adj" fmla="val 4000"/>
            </a:avLst>
          </a:prstGeom>
          <a:solidFill>
            <a:srgbClr val="FEF3C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41248" y="2176272"/>
            <a:ext cx="5404104" cy="2212848"/>
          </a:xfrm>
          <a:prstGeom prst="rect">
            <a:avLst/>
          </a:prstGeom>
          <a:noFill/>
        </p:spPr>
        <p:txBody>
          <a:bodyPr wrap="square" anchor="t" lIns="0" tIns="0" rIns="0" bIns="0">
            <a:spAutoFit/>
          </a:bodyPr>
          <a:lstStyle/>
          <a:p>
            <a:pPr>
              <a:spcAft>
                <a:spcPts val="350"/>
              </a:spcAft>
            </a:pPr>
            <a:r>
              <a:rPr sz="1500" b="1" i="0">
                <a:solidFill>
                  <a:srgbClr val="065A82"/>
                </a:solidFill>
                <a:latin typeface="Calibri"/>
              </a:rPr>
              <a:t>Core Experimental Objectives</a:t>
            </a:r>
          </a:p>
          <a:p>
            <a:pPr marL="201168" indent="-201168">
              <a:spcAft>
                <a:spcPts val="250"/>
              </a:spcAft>
              <a:buFont typeface="Calibri"/>
              <a:buChar char="•"/>
            </a:pPr>
            <a:r>
              <a:rPr sz="1180" b="1" i="0">
                <a:solidFill>
                  <a:srgbClr val="1A1A2E"/>
                </a:solidFill>
                <a:latin typeface="Calibri"/>
              </a:rPr>
              <a:t>1. Disaggregated Storage Audit: </a:t>
            </a:r>
            <a:r>
              <a:rPr sz="1130" b="0" i="0">
                <a:solidFill>
                  <a:srgbClr val="5B6472"/>
                </a:solidFill>
                <a:latin typeface="Calibri"/>
              </a:rPr>
              <a:t>Measure datum, heap, TOAST, PK, HNSW index, and forks (_fsm, _vm) at 1,001, 5,000, and 10,000 chunks.</a:t>
            </a:r>
          </a:p>
          <a:p>
            <a:pPr marL="201168" indent="-201168">
              <a:spcAft>
                <a:spcPts val="250"/>
              </a:spcAft>
              <a:buFont typeface="Calibri"/>
              <a:buChar char="•"/>
            </a:pPr>
            <a:r>
              <a:rPr sz="1180" b="1" i="0">
                <a:solidFill>
                  <a:srgbClr val="1A1A2E"/>
                </a:solidFill>
                <a:latin typeface="Calibri"/>
              </a:rPr>
              <a:t>2. Controlled Latency Benchmark: </a:t>
            </a:r>
            <a:r>
              <a:rPr sz="1130" b="0" i="0">
                <a:solidFill>
                  <a:srgbClr val="5B6472"/>
                </a:solidFill>
                <a:latin typeface="Calibri"/>
              </a:rPr>
              <a:t>Compare FP32 vs. FP16 across Exact, Forced HNSW (ef_s=40), and Planner Auto modes (100 trials/config).</a:t>
            </a:r>
          </a:p>
          <a:p>
            <a:pPr marL="201168" indent="-201168">
              <a:spcAft>
                <a:spcPts val="250"/>
              </a:spcAft>
              <a:buFont typeface="Calibri"/>
              <a:buChar char="•"/>
            </a:pPr>
            <a:r>
              <a:rPr sz="1180" b="1" i="0">
                <a:solidFill>
                  <a:srgbClr val="1A1A2E"/>
                </a:solidFill>
                <a:latin typeface="Calibri"/>
              </a:rPr>
              <a:t>3. Fidelity &amp; Candidate Agreement: </a:t>
            </a:r>
            <a:r>
              <a:rPr sz="1130" b="0" i="0">
                <a:solidFill>
                  <a:srgbClr val="5B6472"/>
                </a:solidFill>
                <a:latin typeface="Calibri"/>
              </a:rPr>
              <a:t>Evaluate Recall@K (K in {3, 5, 10}) vs. FP32 exact scan and pairwise FP32/FP16 HNSW Agreement@K.</a:t>
            </a:r>
          </a:p>
          <a:p>
            <a:pPr marL="201168" indent="-201168">
              <a:spcAft>
                <a:spcPts val="250"/>
              </a:spcAft>
              <a:buFont typeface="Calibri"/>
              <a:buChar char="•"/>
            </a:pPr>
            <a:r>
              <a:rPr sz="1180" b="1" i="0">
                <a:solidFill>
                  <a:srgbClr val="1A1A2E"/>
                </a:solidFill>
                <a:latin typeface="Calibri"/>
              </a:rPr>
              <a:t>4. Query-Plan &amp; Buffer Diagnostics: </a:t>
            </a:r>
            <a:r>
              <a:rPr sz="1130" b="0" i="0">
                <a:solidFill>
                  <a:srgbClr val="5B6472"/>
                </a:solidFill>
                <a:latin typeface="Calibri"/>
              </a:rPr>
              <a:t>Inspect single-query Q0 EXPLAIN (ANALYZE, BUFFERS) plans and representation-specific planner transitions.</a:t>
            </a:r>
          </a:p>
        </p:txBody>
      </p:sp>
      <p:sp>
        <p:nvSpPr>
          <p:cNvPr id="10" name="TextBox 9"/>
          <p:cNvSpPr txBox="1"/>
          <p:nvPr/>
        </p:nvSpPr>
        <p:spPr>
          <a:xfrm>
            <a:off x="841248" y="4791456"/>
            <a:ext cx="5404104" cy="1207008"/>
          </a:xfrm>
          <a:prstGeom prst="rect">
            <a:avLst/>
          </a:prstGeom>
          <a:noFill/>
        </p:spPr>
        <p:txBody>
          <a:bodyPr wrap="square" anchor="t" lIns="0" tIns="0" rIns="0" bIns="0">
            <a:spAutoFit/>
          </a:bodyPr>
          <a:lstStyle/>
          <a:p>
            <a:pPr>
              <a:spcAft>
                <a:spcPts val="300"/>
              </a:spcAft>
            </a:pPr>
            <a:r>
              <a:rPr sz="1400" b="1" i="0">
                <a:solidFill>
                  <a:srgbClr val="B45309"/>
                </a:solidFill>
                <a:latin typeface="Calibri"/>
              </a:rPr>
              <a:t>Explicit Scope Boundary (What Is Not Claimed)</a:t>
            </a:r>
          </a:p>
          <a:p>
            <a:pPr marL="201168" indent="-201168">
              <a:spcAft>
                <a:spcPts val="200"/>
              </a:spcAft>
              <a:buFont typeface="Calibri"/>
              <a:buChar char="•"/>
            </a:pPr>
            <a:r>
              <a:rPr sz="1150" b="1" i="0">
                <a:solidFill>
                  <a:srgbClr val="1A1A2E"/>
                </a:solidFill>
                <a:latin typeface="Calibri"/>
              </a:rPr>
              <a:t>Retrieval Layer Only: </a:t>
            </a:r>
            <a:r>
              <a:rPr sz="1120" b="0" i="0">
                <a:solidFill>
                  <a:srgbClr val="1A1A2E"/>
                </a:solidFill>
                <a:latin typeface="Calibri"/>
              </a:rPr>
              <a:t>Evaluates PostgreSQL storage, latency, plans, and set-overlap fidelity; does NOT establish human semantic relevance (qrels) or end-to-end LLM answer quality.</a:t>
            </a:r>
          </a:p>
          <a:p>
            <a:pPr marL="201168" indent="-201168">
              <a:spcAft>
                <a:spcPts val="200"/>
              </a:spcAft>
              <a:buFont typeface="Calibri"/>
              <a:buChar char="•"/>
            </a:pPr>
            <a:r>
              <a:rPr sz="1150" b="1" i="0">
                <a:solidFill>
                  <a:srgbClr val="1A1A2E"/>
                </a:solidFill>
                <a:latin typeface="Calibri"/>
              </a:rPr>
              <a:t>Baseline vs. Scaling Separation: </a:t>
            </a:r>
            <a:r>
              <a:rPr sz="1120" b="0" i="0">
                <a:solidFill>
                  <a:srgbClr val="1A1A2E"/>
                </a:solidFill>
                <a:latin typeface="Calibri"/>
              </a:rPr>
              <a:t>The 180-chunk Review 2 baseline (monolithic table, K=3) is kept separate from Stages 2–4 (vector-only tables, 20 queries, K in {3, 5, 10}).</a:t>
            </a:r>
          </a:p>
        </p:txBody>
      </p:sp>
      <p:graphicFrame>
        <p:nvGraphicFramePr>
          <p:cNvPr id="11" name="Chart 10"/>
          <p:cNvGraphicFramePr>
            <a:graphicFrameLocks noGrp="1"/>
          </p:cNvGraphicFramePr>
          <p:nvPr/>
        </p:nvGraphicFramePr>
        <p:xfrm>
          <a:off x="6629400" y="2029968"/>
          <a:ext cx="4919472" cy="4096512"/>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4. SYSTEM ARCHITECTURE &amp; DATA FLOW</a:t>
            </a:r>
          </a:p>
          <a:p>
            <a:pPr algn="l">
              <a:spcAft>
                <a:spcPts val="300"/>
              </a:spcAft>
            </a:pPr>
            <a:r>
              <a:rPr sz="2700" b="1" i="0">
                <a:solidFill>
                  <a:srgbClr val="21295C"/>
                </a:solidFill>
                <a:latin typeface="Calibri"/>
              </a:rPr>
              <a:t>Implemented 8-Step Pipeline and Isolated Representation Tables</a:t>
            </a:r>
          </a:p>
          <a:p>
            <a:pPr algn="l"/>
            <a:r>
              <a:rPr sz="1350" b="0" i="0">
                <a:solidFill>
                  <a:srgbClr val="5B6472"/>
                </a:solidFill>
                <a:latin typeface="Calibri"/>
              </a:rPr>
              <a:t>Decomposing the report's 7-stage architecture (Figure 1) into 8 operational steps; LLM generation remains future work</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5 / 16</a:t>
            </a:r>
          </a:p>
        </p:txBody>
      </p:sp>
      <p:sp>
        <p:nvSpPr>
          <p:cNvPr id="7" name="Rounded Rectangle 6"/>
          <p:cNvSpPr/>
          <p:nvPr/>
        </p:nvSpPr>
        <p:spPr>
          <a:xfrm>
            <a:off x="640080" y="2029968"/>
            <a:ext cx="2487168" cy="138988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40080" y="2029968"/>
            <a:ext cx="2487168" cy="365760"/>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68096" y="2084832"/>
            <a:ext cx="2231136" cy="256032"/>
          </a:xfrm>
          <a:prstGeom prst="rect">
            <a:avLst/>
          </a:prstGeom>
          <a:noFill/>
        </p:spPr>
        <p:txBody>
          <a:bodyPr wrap="square" anchor="t" lIns="0" tIns="0" rIns="0" bIns="0">
            <a:spAutoFit/>
          </a:bodyPr>
          <a:lstStyle/>
          <a:p>
            <a:pPr algn="l"/>
            <a:r>
              <a:rPr sz="1240" b="1" i="0">
                <a:solidFill>
                  <a:srgbClr val="FFFFFF"/>
                </a:solidFill>
                <a:latin typeface="Calibri"/>
              </a:rPr>
              <a:t>1. BeIR/MS MARCO Source</a:t>
            </a:r>
          </a:p>
        </p:txBody>
      </p:sp>
      <p:sp>
        <p:nvSpPr>
          <p:cNvPr id="10" name="TextBox 9"/>
          <p:cNvSpPr txBox="1"/>
          <p:nvPr/>
        </p:nvSpPr>
        <p:spPr>
          <a:xfrm>
            <a:off x="786384" y="2450592"/>
            <a:ext cx="2194560" cy="859536"/>
          </a:xfrm>
          <a:prstGeom prst="rect">
            <a:avLst/>
          </a:prstGeom>
          <a:noFill/>
        </p:spPr>
        <p:txBody>
          <a:bodyPr wrap="square" anchor="t" lIns="0" tIns="0" rIns="0" bIns="0">
            <a:spAutoFit/>
          </a:bodyPr>
          <a:lstStyle/>
          <a:p>
            <a:pPr algn="l">
              <a:spcAft>
                <a:spcPts val="150"/>
              </a:spcAft>
            </a:pPr>
            <a:r>
              <a:rPr sz="1180" b="0" i="0">
                <a:solidFill>
                  <a:srgbClr val="1A1A2E"/>
                </a:solidFill>
                <a:latin typeface="Calibri"/>
              </a:rPr>
              <a:t>Hugging Face streaming</a:t>
            </a:r>
          </a:p>
          <a:p>
            <a:pPr algn="l">
              <a:spcAft>
                <a:spcPts val="150"/>
              </a:spcAft>
            </a:pPr>
            <a:r>
              <a:rPr sz="1180" b="0" i="0">
                <a:solidFill>
                  <a:srgbClr val="1A1A2E"/>
                </a:solidFill>
                <a:latin typeface="Calibri"/>
              </a:rPr>
              <a:t>100 (R2) -&gt; 550 (1k) -&gt;</a:t>
            </a:r>
          </a:p>
          <a:p>
            <a:pPr algn="l">
              <a:spcAft>
                <a:spcPts val="150"/>
              </a:spcAft>
            </a:pPr>
            <a:r>
              <a:rPr sz="1180" b="0" i="0">
                <a:solidFill>
                  <a:srgbClr val="1A1A2E"/>
                </a:solidFill>
                <a:latin typeface="Calibri"/>
              </a:rPr>
              <a:t>2,729 (5k) &amp; 5,457 (10k) docs</a:t>
            </a:r>
          </a:p>
        </p:txBody>
      </p:sp>
      <p:sp>
        <p:nvSpPr>
          <p:cNvPr id="11" name="Right Arrow 10"/>
          <p:cNvSpPr/>
          <p:nvPr/>
        </p:nvSpPr>
        <p:spPr>
          <a:xfrm>
            <a:off x="3172968" y="2596896"/>
            <a:ext cx="228599" cy="237744"/>
          </a:xfrm>
          <a:prstGeom prst="rightArrow">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447288" y="2029968"/>
            <a:ext cx="2487168" cy="138988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3447288" y="2029968"/>
            <a:ext cx="2487168" cy="365760"/>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575304" y="2084832"/>
            <a:ext cx="2231136" cy="256032"/>
          </a:xfrm>
          <a:prstGeom prst="rect">
            <a:avLst/>
          </a:prstGeom>
          <a:noFill/>
        </p:spPr>
        <p:txBody>
          <a:bodyPr wrap="square" anchor="t" lIns="0" tIns="0" rIns="0" bIns="0">
            <a:spAutoFit/>
          </a:bodyPr>
          <a:lstStyle/>
          <a:p>
            <a:pPr algn="l"/>
            <a:r>
              <a:rPr sz="1240" b="1" i="0">
                <a:solidFill>
                  <a:srgbClr val="FFFFFF"/>
                </a:solidFill>
                <a:latin typeface="Calibri"/>
              </a:rPr>
              <a:t>2. Atomic TSV Cache</a:t>
            </a:r>
          </a:p>
        </p:txBody>
      </p:sp>
      <p:sp>
        <p:nvSpPr>
          <p:cNvPr id="15" name="TextBox 14"/>
          <p:cNvSpPr txBox="1"/>
          <p:nvPr/>
        </p:nvSpPr>
        <p:spPr>
          <a:xfrm>
            <a:off x="3593592" y="2450592"/>
            <a:ext cx="2194560" cy="859536"/>
          </a:xfrm>
          <a:prstGeom prst="rect">
            <a:avLst/>
          </a:prstGeom>
          <a:noFill/>
        </p:spPr>
        <p:txBody>
          <a:bodyPr wrap="square" anchor="t" lIns="0" tIns="0" rIns="0" bIns="0">
            <a:spAutoFit/>
          </a:bodyPr>
          <a:lstStyle/>
          <a:p>
            <a:pPr algn="l">
              <a:spcAft>
                <a:spcPts val="150"/>
              </a:spcAft>
            </a:pPr>
            <a:r>
              <a:rPr sz="1180" b="0" i="0">
                <a:solidFill>
                  <a:srgbClr val="1A1A2E"/>
                </a:solidFill>
                <a:latin typeface="Calibri"/>
              </a:rPr>
              <a:t>data/raw/*.tsv &amp; .meta.json</a:t>
            </a:r>
          </a:p>
          <a:p>
            <a:pPr algn="l">
              <a:spcAft>
                <a:spcPts val="150"/>
              </a:spcAft>
            </a:pPr>
            <a:r>
              <a:rPr sz="1180" b="0" i="0">
                <a:solidFill>
                  <a:srgbClr val="1A1A2E"/>
                </a:solidFill>
                <a:latin typeface="Calibri"/>
              </a:rPr>
              <a:t>SHA-256 key-set check</a:t>
            </a:r>
          </a:p>
          <a:p>
            <a:pPr algn="l">
              <a:spcAft>
                <a:spcPts val="150"/>
              </a:spcAft>
            </a:pPr>
            <a:r>
              <a:rPr sz="1180" b="0" i="0">
                <a:solidFill>
                  <a:srgbClr val="1A1A2E"/>
                </a:solidFill>
                <a:latin typeface="Calibri"/>
              </a:rPr>
              <a:t>(1,001/1,001 hash match)</a:t>
            </a:r>
          </a:p>
        </p:txBody>
      </p:sp>
      <p:sp>
        <p:nvSpPr>
          <p:cNvPr id="16" name="Right Arrow 15"/>
          <p:cNvSpPr/>
          <p:nvPr/>
        </p:nvSpPr>
        <p:spPr>
          <a:xfrm>
            <a:off x="5980176" y="2596896"/>
            <a:ext cx="228599" cy="237744"/>
          </a:xfrm>
          <a:prstGeom prst="rightArrow">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54496" y="2029968"/>
            <a:ext cx="2487168" cy="138988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254496" y="2029968"/>
            <a:ext cx="2487168" cy="365760"/>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382512" y="2084832"/>
            <a:ext cx="2231136" cy="256032"/>
          </a:xfrm>
          <a:prstGeom prst="rect">
            <a:avLst/>
          </a:prstGeom>
          <a:noFill/>
        </p:spPr>
        <p:txBody>
          <a:bodyPr wrap="square" anchor="t" lIns="0" tIns="0" rIns="0" bIns="0">
            <a:spAutoFit/>
          </a:bodyPr>
          <a:lstStyle/>
          <a:p>
            <a:pPr algn="l"/>
            <a:r>
              <a:rPr sz="1240" b="1" i="0">
                <a:solidFill>
                  <a:srgbClr val="FFFFFF"/>
                </a:solidFill>
                <a:latin typeface="Calibri"/>
              </a:rPr>
              <a:t>3. Deterministic Chunking</a:t>
            </a:r>
          </a:p>
        </p:txBody>
      </p:sp>
      <p:sp>
        <p:nvSpPr>
          <p:cNvPr id="20" name="TextBox 19"/>
          <p:cNvSpPr txBox="1"/>
          <p:nvPr/>
        </p:nvSpPr>
        <p:spPr>
          <a:xfrm>
            <a:off x="6400800" y="2450592"/>
            <a:ext cx="2194560" cy="859536"/>
          </a:xfrm>
          <a:prstGeom prst="rect">
            <a:avLst/>
          </a:prstGeom>
          <a:noFill/>
        </p:spPr>
        <p:txBody>
          <a:bodyPr wrap="square" anchor="t" lIns="0" tIns="0" rIns="0" bIns="0">
            <a:spAutoFit/>
          </a:bodyPr>
          <a:lstStyle/>
          <a:p>
            <a:pPr algn="l">
              <a:spcAft>
                <a:spcPts val="150"/>
              </a:spcAft>
            </a:pPr>
            <a:r>
              <a:rPr sz="1180" b="0" i="0">
                <a:solidFill>
                  <a:srgbClr val="1A1A2E"/>
                </a:solidFill>
                <a:latin typeface="Calibri"/>
              </a:rPr>
              <a:t>src/preprocessing.py</a:t>
            </a:r>
          </a:p>
          <a:p>
            <a:pPr algn="l">
              <a:spcAft>
                <a:spcPts val="150"/>
              </a:spcAft>
            </a:pPr>
            <a:r>
              <a:rPr sz="1180" b="0" i="0">
                <a:solidFill>
                  <a:srgbClr val="1A1A2E"/>
                </a:solidFill>
                <a:latin typeface="Calibri"/>
              </a:rPr>
              <a:t>chunk_size = 300 chars</a:t>
            </a:r>
          </a:p>
          <a:p>
            <a:pPr algn="l">
              <a:spcAft>
                <a:spcPts val="150"/>
              </a:spcAft>
            </a:pPr>
            <a:r>
              <a:rPr sz="1180" b="0" i="0">
                <a:solidFill>
                  <a:srgbClr val="1A1A2E"/>
                </a:solidFill>
                <a:latin typeface="Calibri"/>
              </a:rPr>
              <a:t>overlap = 50 (stride 250)</a:t>
            </a:r>
          </a:p>
        </p:txBody>
      </p:sp>
      <p:sp>
        <p:nvSpPr>
          <p:cNvPr id="21" name="Right Arrow 20"/>
          <p:cNvSpPr/>
          <p:nvPr/>
        </p:nvSpPr>
        <p:spPr>
          <a:xfrm>
            <a:off x="8787384" y="2596896"/>
            <a:ext cx="228599" cy="237744"/>
          </a:xfrm>
          <a:prstGeom prst="rightArrow">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61704" y="2029968"/>
            <a:ext cx="2487168" cy="138988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061704" y="2029968"/>
            <a:ext cx="2487168" cy="365760"/>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189720" y="2084832"/>
            <a:ext cx="2231136" cy="256032"/>
          </a:xfrm>
          <a:prstGeom prst="rect">
            <a:avLst/>
          </a:prstGeom>
          <a:noFill/>
        </p:spPr>
        <p:txBody>
          <a:bodyPr wrap="square" anchor="t" lIns="0" tIns="0" rIns="0" bIns="0">
            <a:spAutoFit/>
          </a:bodyPr>
          <a:lstStyle/>
          <a:p>
            <a:pPr algn="l"/>
            <a:r>
              <a:rPr sz="1240" b="1" i="0">
                <a:solidFill>
                  <a:srgbClr val="FFFFFF"/>
                </a:solidFill>
                <a:latin typeface="Calibri"/>
              </a:rPr>
              <a:t>4. Local Ollama Embedding</a:t>
            </a:r>
          </a:p>
        </p:txBody>
      </p:sp>
      <p:sp>
        <p:nvSpPr>
          <p:cNvPr id="25" name="TextBox 24"/>
          <p:cNvSpPr txBox="1"/>
          <p:nvPr/>
        </p:nvSpPr>
        <p:spPr>
          <a:xfrm>
            <a:off x="9208008" y="2450592"/>
            <a:ext cx="2194560" cy="859536"/>
          </a:xfrm>
          <a:prstGeom prst="rect">
            <a:avLst/>
          </a:prstGeom>
          <a:noFill/>
        </p:spPr>
        <p:txBody>
          <a:bodyPr wrap="square" anchor="t" lIns="0" tIns="0" rIns="0" bIns="0">
            <a:spAutoFit/>
          </a:bodyPr>
          <a:lstStyle/>
          <a:p>
            <a:pPr algn="l">
              <a:spcAft>
                <a:spcPts val="150"/>
              </a:spcAft>
            </a:pPr>
            <a:r>
              <a:rPr sz="1180" b="0" i="0">
                <a:solidFill>
                  <a:srgbClr val="1A1A2E"/>
                </a:solidFill>
                <a:latin typeface="Calibri"/>
              </a:rPr>
              <a:t>src/embeddings.py</a:t>
            </a:r>
          </a:p>
          <a:p>
            <a:pPr algn="l">
              <a:spcAft>
                <a:spcPts val="150"/>
              </a:spcAft>
            </a:pPr>
            <a:r>
              <a:rPr sz="1180" b="0" i="0">
                <a:solidFill>
                  <a:srgbClr val="1A1A2E"/>
                </a:solidFill>
                <a:latin typeface="Calibri"/>
              </a:rPr>
              <a:t>nomic-embed-text (768-D)</a:t>
            </a:r>
          </a:p>
          <a:p>
            <a:pPr algn="l">
              <a:spcAft>
                <a:spcPts val="150"/>
              </a:spcAft>
            </a:pPr>
            <a:r>
              <a:rPr sz="1180" b="0" i="0">
                <a:solidFill>
                  <a:srgbClr val="1A1A2E"/>
                </a:solidFill>
                <a:latin typeface="Calibri"/>
              </a:rPr>
              <a:t>Reuses 1,001 validated vecs</a:t>
            </a:r>
          </a:p>
        </p:txBody>
      </p:sp>
      <p:sp>
        <p:nvSpPr>
          <p:cNvPr id="26" name="Down Arrow 25"/>
          <p:cNvSpPr/>
          <p:nvPr/>
        </p:nvSpPr>
        <p:spPr>
          <a:xfrm>
            <a:off x="10158984" y="3456432"/>
            <a:ext cx="292608" cy="237744"/>
          </a:xfrm>
          <a:prstGeom prst="downArrow">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640080" y="3730752"/>
            <a:ext cx="2487168" cy="138988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40080" y="3730752"/>
            <a:ext cx="2487168" cy="365760"/>
          </a:xfrm>
          <a:prstGeom prst="rect">
            <a:avLst/>
          </a:prstGeom>
          <a:solidFill>
            <a:srgbClr val="006D5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68096" y="3785615"/>
            <a:ext cx="2231136" cy="256032"/>
          </a:xfrm>
          <a:prstGeom prst="rect">
            <a:avLst/>
          </a:prstGeom>
          <a:noFill/>
        </p:spPr>
        <p:txBody>
          <a:bodyPr wrap="square" anchor="t" lIns="0" tIns="0" rIns="0" bIns="0">
            <a:spAutoFit/>
          </a:bodyPr>
          <a:lstStyle/>
          <a:p>
            <a:pPr algn="l"/>
            <a:r>
              <a:rPr sz="1240" b="1" i="0">
                <a:solidFill>
                  <a:srgbClr val="FFFFFF"/>
                </a:solidFill>
                <a:latin typeface="Calibri"/>
              </a:rPr>
              <a:t>8. Reports &amp; CSV Assets</a:t>
            </a:r>
          </a:p>
        </p:txBody>
      </p:sp>
      <p:sp>
        <p:nvSpPr>
          <p:cNvPr id="30" name="TextBox 29"/>
          <p:cNvSpPr txBox="1"/>
          <p:nvPr/>
        </p:nvSpPr>
        <p:spPr>
          <a:xfrm>
            <a:off x="786384" y="4151376"/>
            <a:ext cx="2194560" cy="859536"/>
          </a:xfrm>
          <a:prstGeom prst="rect">
            <a:avLst/>
          </a:prstGeom>
          <a:noFill/>
        </p:spPr>
        <p:txBody>
          <a:bodyPr wrap="square" anchor="t" lIns="0" tIns="0" rIns="0" bIns="0">
            <a:spAutoFit/>
          </a:bodyPr>
          <a:lstStyle/>
          <a:p>
            <a:pPr algn="l">
              <a:spcAft>
                <a:spcPts val="150"/>
              </a:spcAft>
            </a:pPr>
            <a:r>
              <a:rPr sz="1180" b="0" i="0">
                <a:solidFill>
                  <a:srgbClr val="1A1A2E"/>
                </a:solidFill>
                <a:latin typeface="Calibri"/>
              </a:rPr>
              <a:t>Disaggregated storage CSV</a:t>
            </a:r>
          </a:p>
          <a:p>
            <a:pPr algn="l">
              <a:spcAft>
                <a:spcPts val="150"/>
              </a:spcAft>
            </a:pPr>
            <a:r>
              <a:rPr sz="1180" b="0" i="0">
                <a:solidFill>
                  <a:srgbClr val="1A1A2E"/>
                </a:solidFill>
                <a:latin typeface="Calibri"/>
              </a:rPr>
              <a:t>Latency, Recall@K &amp; Agreement</a:t>
            </a:r>
          </a:p>
          <a:p>
            <a:pPr algn="l">
              <a:spcAft>
                <a:spcPts val="150"/>
              </a:spcAft>
            </a:pPr>
            <a:r>
              <a:rPr sz="1180" b="0" i="0">
                <a:solidFill>
                  <a:srgbClr val="1A1A2E"/>
                </a:solidFill>
                <a:latin typeface="Calibri"/>
              </a:rPr>
              <a:t>Stage 1–4 MD reports</a:t>
            </a:r>
          </a:p>
        </p:txBody>
      </p:sp>
      <p:sp>
        <p:nvSpPr>
          <p:cNvPr id="31" name="Left Arrow 30"/>
          <p:cNvSpPr/>
          <p:nvPr/>
        </p:nvSpPr>
        <p:spPr>
          <a:xfrm>
            <a:off x="3172968" y="4297680"/>
            <a:ext cx="228599" cy="237744"/>
          </a:xfrm>
          <a:prstGeom prst="leftArrow">
            <a:avLst/>
          </a:prstGeom>
          <a:solidFill>
            <a:srgbClr val="006D5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3447288" y="3730752"/>
            <a:ext cx="2487168" cy="138988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3447288" y="3730752"/>
            <a:ext cx="2487168" cy="365760"/>
          </a:xfrm>
          <a:prstGeom prst="rect">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575304" y="3785615"/>
            <a:ext cx="2231136" cy="256032"/>
          </a:xfrm>
          <a:prstGeom prst="rect">
            <a:avLst/>
          </a:prstGeom>
          <a:noFill/>
        </p:spPr>
        <p:txBody>
          <a:bodyPr wrap="square" anchor="t" lIns="0" tIns="0" rIns="0" bIns="0">
            <a:spAutoFit/>
          </a:bodyPr>
          <a:lstStyle/>
          <a:p>
            <a:pPr algn="l"/>
            <a:r>
              <a:rPr sz="1240" b="1" i="0">
                <a:solidFill>
                  <a:srgbClr val="FFFFFF"/>
                </a:solidFill>
                <a:latin typeface="Calibri"/>
              </a:rPr>
              <a:t>7. Retrieval &amp; Diagnostics</a:t>
            </a:r>
          </a:p>
        </p:txBody>
      </p:sp>
      <p:sp>
        <p:nvSpPr>
          <p:cNvPr id="35" name="TextBox 34"/>
          <p:cNvSpPr txBox="1"/>
          <p:nvPr/>
        </p:nvSpPr>
        <p:spPr>
          <a:xfrm>
            <a:off x="3593592" y="4151376"/>
            <a:ext cx="2194560" cy="859536"/>
          </a:xfrm>
          <a:prstGeom prst="rect">
            <a:avLst/>
          </a:prstGeom>
          <a:noFill/>
        </p:spPr>
        <p:txBody>
          <a:bodyPr wrap="square" anchor="t" lIns="0" tIns="0" rIns="0" bIns="0">
            <a:spAutoFit/>
          </a:bodyPr>
          <a:lstStyle/>
          <a:p>
            <a:pPr algn="l">
              <a:spcAft>
                <a:spcPts val="150"/>
              </a:spcAft>
            </a:pPr>
            <a:r>
              <a:rPr sz="1180" b="0" i="0">
                <a:solidFill>
                  <a:srgbClr val="1A1A2E"/>
                </a:solidFill>
                <a:latin typeface="Calibri"/>
              </a:rPr>
              <a:t>Exact, Forced HNSW (ef_s=40)</a:t>
            </a:r>
          </a:p>
          <a:p>
            <a:pPr algn="l">
              <a:spcAft>
                <a:spcPts val="150"/>
              </a:spcAft>
            </a:pPr>
            <a:r>
              <a:rPr sz="1180" b="0" i="0">
                <a:solidFill>
                  <a:srgbClr val="1A1A2E"/>
                </a:solidFill>
                <a:latin typeface="Calibri"/>
              </a:rPr>
              <a:t>&amp; Planner Auto (100 trials)</a:t>
            </a:r>
          </a:p>
          <a:p>
            <a:pPr algn="l">
              <a:spcAft>
                <a:spcPts val="150"/>
              </a:spcAft>
            </a:pPr>
            <a:r>
              <a:rPr sz="1180" b="0" i="0">
                <a:solidFill>
                  <a:srgbClr val="1A1A2E"/>
                </a:solidFill>
                <a:latin typeface="Calibri"/>
              </a:rPr>
              <a:t>Single-query Q0 EXPLAIN</a:t>
            </a:r>
          </a:p>
        </p:txBody>
      </p:sp>
      <p:sp>
        <p:nvSpPr>
          <p:cNvPr id="36" name="Left Arrow 35"/>
          <p:cNvSpPr/>
          <p:nvPr/>
        </p:nvSpPr>
        <p:spPr>
          <a:xfrm>
            <a:off x="5980176" y="4297680"/>
            <a:ext cx="228599" cy="237744"/>
          </a:xfrm>
          <a:prstGeom prst="leftArrow">
            <a:avLst/>
          </a:prstGeom>
          <a:solidFill>
            <a:srgbClr val="006D5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6254496" y="3730752"/>
            <a:ext cx="2487168" cy="138988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6254496" y="3730752"/>
            <a:ext cx="2487168" cy="365760"/>
          </a:xfrm>
          <a:prstGeom prst="rect">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382512" y="3785615"/>
            <a:ext cx="2231136" cy="256032"/>
          </a:xfrm>
          <a:prstGeom prst="rect">
            <a:avLst/>
          </a:prstGeom>
          <a:noFill/>
        </p:spPr>
        <p:txBody>
          <a:bodyPr wrap="square" anchor="t" lIns="0" tIns="0" rIns="0" bIns="0">
            <a:spAutoFit/>
          </a:bodyPr>
          <a:lstStyle/>
          <a:p>
            <a:pPr algn="l"/>
            <a:r>
              <a:rPr sz="1240" b="1" i="0">
                <a:solidFill>
                  <a:srgbClr val="FFFFFF"/>
                </a:solidFill>
                <a:latin typeface="Calibri"/>
              </a:rPr>
              <a:t>6. HNSW Graph Indexing</a:t>
            </a:r>
          </a:p>
        </p:txBody>
      </p:sp>
      <p:sp>
        <p:nvSpPr>
          <p:cNvPr id="40" name="TextBox 39"/>
          <p:cNvSpPr txBox="1"/>
          <p:nvPr/>
        </p:nvSpPr>
        <p:spPr>
          <a:xfrm>
            <a:off x="6400800" y="4151376"/>
            <a:ext cx="2194560" cy="859536"/>
          </a:xfrm>
          <a:prstGeom prst="rect">
            <a:avLst/>
          </a:prstGeom>
          <a:noFill/>
        </p:spPr>
        <p:txBody>
          <a:bodyPr wrap="square" anchor="t" lIns="0" tIns="0" rIns="0" bIns="0">
            <a:spAutoFit/>
          </a:bodyPr>
          <a:lstStyle/>
          <a:p>
            <a:pPr algn="l">
              <a:spcAft>
                <a:spcPts val="150"/>
              </a:spcAft>
            </a:pPr>
            <a:r>
              <a:rPr sz="1180" b="0" i="0">
                <a:solidFill>
                  <a:srgbClr val="1A1A2E"/>
                </a:solidFill>
                <a:latin typeface="Calibri"/>
              </a:rPr>
              <a:t>m = 16, ef_construction = 64</a:t>
            </a:r>
          </a:p>
          <a:p>
            <a:pPr algn="l">
              <a:spcAft>
                <a:spcPts val="150"/>
              </a:spcAft>
            </a:pPr>
            <a:r>
              <a:rPr sz="1180" b="0" i="0">
                <a:solidFill>
                  <a:srgbClr val="1A1A2E"/>
                </a:solidFill>
                <a:latin typeface="Calibri"/>
              </a:rPr>
              <a:t>vector_cosine_ops (FP32) vs.</a:t>
            </a:r>
          </a:p>
          <a:p>
            <a:pPr algn="l">
              <a:spcAft>
                <a:spcPts val="150"/>
              </a:spcAft>
            </a:pPr>
            <a:r>
              <a:rPr sz="1180" b="0" i="0">
                <a:solidFill>
                  <a:srgbClr val="1A1A2E"/>
                </a:solidFill>
                <a:latin typeface="Calibri"/>
              </a:rPr>
              <a:t>halfvec_cosine_ops (FP16)</a:t>
            </a:r>
          </a:p>
        </p:txBody>
      </p:sp>
      <p:sp>
        <p:nvSpPr>
          <p:cNvPr id="41" name="Left Arrow 40"/>
          <p:cNvSpPr/>
          <p:nvPr/>
        </p:nvSpPr>
        <p:spPr>
          <a:xfrm>
            <a:off x="8787384" y="4297680"/>
            <a:ext cx="228599" cy="237744"/>
          </a:xfrm>
          <a:prstGeom prst="leftArrow">
            <a:avLst/>
          </a:prstGeom>
          <a:solidFill>
            <a:srgbClr val="006D5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9061704" y="3730752"/>
            <a:ext cx="2487168" cy="138988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9061704" y="3730752"/>
            <a:ext cx="2487168" cy="365760"/>
          </a:xfrm>
          <a:prstGeom prst="rect">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9189720" y="3785615"/>
            <a:ext cx="2231136" cy="256032"/>
          </a:xfrm>
          <a:prstGeom prst="rect">
            <a:avLst/>
          </a:prstGeom>
          <a:noFill/>
        </p:spPr>
        <p:txBody>
          <a:bodyPr wrap="square" anchor="t" lIns="0" tIns="0" rIns="0" bIns="0">
            <a:spAutoFit/>
          </a:bodyPr>
          <a:lstStyle/>
          <a:p>
            <a:pPr algn="l"/>
            <a:r>
              <a:rPr sz="1240" b="1" i="0">
                <a:solidFill>
                  <a:srgbClr val="FFFFFF"/>
                </a:solidFill>
                <a:latin typeface="Calibri"/>
              </a:rPr>
              <a:t>5. Isolated Vector Tables</a:t>
            </a:r>
          </a:p>
        </p:txBody>
      </p:sp>
      <p:sp>
        <p:nvSpPr>
          <p:cNvPr id="45" name="TextBox 44"/>
          <p:cNvSpPr txBox="1"/>
          <p:nvPr/>
        </p:nvSpPr>
        <p:spPr>
          <a:xfrm>
            <a:off x="9208008" y="4151376"/>
            <a:ext cx="2194560" cy="859536"/>
          </a:xfrm>
          <a:prstGeom prst="rect">
            <a:avLst/>
          </a:prstGeom>
          <a:noFill/>
        </p:spPr>
        <p:txBody>
          <a:bodyPr wrap="square" anchor="t" lIns="0" tIns="0" rIns="0" bIns="0">
            <a:spAutoFit/>
          </a:bodyPr>
          <a:lstStyle/>
          <a:p>
            <a:pPr algn="l">
              <a:spcAft>
                <a:spcPts val="150"/>
              </a:spcAft>
            </a:pPr>
            <a:r>
              <a:rPr sz="1180" b="0" i="0">
                <a:solidFill>
                  <a:srgbClr val="1A1A2E"/>
                </a:solidFill>
                <a:latin typeface="Calibri"/>
              </a:rPr>
              <a:t>chunk_id PK + embedding</a:t>
            </a:r>
          </a:p>
          <a:p>
            <a:pPr algn="l">
              <a:spcAft>
                <a:spcPts val="150"/>
              </a:spcAft>
            </a:pPr>
            <a:r>
              <a:rPr sz="1180" b="0" i="0">
                <a:solidFill>
                  <a:srgbClr val="1A1A2E"/>
                </a:solidFill>
                <a:latin typeface="Calibri"/>
              </a:rPr>
              <a:t>FP32 vector(768) -&gt; TOAST</a:t>
            </a:r>
          </a:p>
          <a:p>
            <a:pPr algn="l">
              <a:spcAft>
                <a:spcPts val="150"/>
              </a:spcAft>
            </a:pPr>
            <a:r>
              <a:rPr sz="1180" b="0" i="0">
                <a:solidFill>
                  <a:srgbClr val="1A1A2E"/>
                </a:solidFill>
                <a:latin typeface="Calibri"/>
              </a:rPr>
              <a:t>FP16 ::halfvec(768) -&gt; Inline</a:t>
            </a:r>
          </a:p>
        </p:txBody>
      </p:sp>
      <p:sp>
        <p:nvSpPr>
          <p:cNvPr id="46" name="Rounded Rectangle 45"/>
          <p:cNvSpPr/>
          <p:nvPr/>
        </p:nvSpPr>
        <p:spPr>
          <a:xfrm>
            <a:off x="640080" y="5266944"/>
            <a:ext cx="10908792" cy="877824"/>
          </a:xfrm>
          <a:prstGeom prst="roundRect">
            <a:avLst>
              <a:gd name="adj" fmla="val 4000"/>
            </a:avLst>
          </a:prstGeom>
          <a:solidFill>
            <a:srgbClr val="E8F1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841248" y="5394960"/>
            <a:ext cx="10506456" cy="621792"/>
          </a:xfrm>
          <a:prstGeom prst="rect">
            <a:avLst/>
          </a:prstGeom>
          <a:noFill/>
        </p:spPr>
        <p:txBody>
          <a:bodyPr wrap="square" anchor="t" lIns="0" tIns="0" rIns="0" bIns="0">
            <a:spAutoFit/>
          </a:bodyPr>
          <a:lstStyle/>
          <a:p>
            <a:r>
              <a:rPr sz="1200" b="1" i="0">
                <a:solidFill>
                  <a:srgbClr val="21295C"/>
                </a:solidFill>
                <a:latin typeface="Calibri"/>
              </a:rPr>
              <a:t>Architecture &amp; Multi-Database Isolation: </a:t>
            </a:r>
            <a:r>
              <a:rPr sz="1160" b="0" i="0">
                <a:solidFill>
                  <a:srgbClr val="1A1A2E"/>
                </a:solidFill>
                <a:latin typeface="Calibri"/>
              </a:rPr>
              <a:t>The eight-step slide is a presentation-level decomposition of the report's seven-stage overview; the report's base ground-truth-table step is folded into Step 5 here (across 5 isolated DBs). This is a grouping difference, not a methodology change. Empirical project Stages 1–4 remain distinct; LLM generation (Qwen) is Future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5. EXPERIMENTAL SETUP &amp; METHODOLOGY</a:t>
            </a:r>
          </a:p>
          <a:p>
            <a:pPr algn="l">
              <a:spcAft>
                <a:spcPts val="300"/>
              </a:spcAft>
            </a:pPr>
            <a:r>
              <a:rPr sz="2700" b="1" i="0">
                <a:solidFill>
                  <a:srgbClr val="21295C"/>
                </a:solidFill>
                <a:latin typeface="Calibri"/>
              </a:rPr>
              <a:t>Workstation Stack, 100-Trial Protocol, and Timing Boundaries</a:t>
            </a:r>
          </a:p>
          <a:p>
            <a:pPr algn="l"/>
            <a:r>
              <a:rPr sz="1350" b="0" i="0">
                <a:solidFill>
                  <a:srgbClr val="5B6472"/>
                </a:solidFill>
                <a:latin typeface="Calibri"/>
              </a:rPr>
              <a:t>Repeated executions of 20 fixed queries with alternating pass order and strict Stage 3 vs. Stage 4 v2 timing separation</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6 / 16</a:t>
            </a:r>
          </a:p>
        </p:txBody>
      </p:sp>
      <p:sp>
        <p:nvSpPr>
          <p:cNvPr id="7" name="Rounded Rectangle 6"/>
          <p:cNvSpPr/>
          <p:nvPr/>
        </p:nvSpPr>
        <p:spPr>
          <a:xfrm>
            <a:off x="640080" y="2029968"/>
            <a:ext cx="3456432" cy="4133087"/>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40080" y="2029968"/>
            <a:ext cx="3456432" cy="402336"/>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093976"/>
            <a:ext cx="3163824" cy="274320"/>
          </a:xfrm>
          <a:prstGeom prst="rect">
            <a:avLst/>
          </a:prstGeom>
          <a:noFill/>
        </p:spPr>
        <p:txBody>
          <a:bodyPr wrap="square" anchor="t" lIns="0" tIns="0" rIns="0" bIns="0">
            <a:spAutoFit/>
          </a:bodyPr>
          <a:lstStyle/>
          <a:p>
            <a:pPr algn="l"/>
            <a:r>
              <a:rPr sz="1380" b="1" i="0">
                <a:solidFill>
                  <a:srgbClr val="FFFFFF"/>
                </a:solidFill>
                <a:latin typeface="Calibri"/>
              </a:rPr>
              <a:t>Hardware &amp; Host Environment</a:t>
            </a:r>
          </a:p>
        </p:txBody>
      </p:sp>
      <p:sp>
        <p:nvSpPr>
          <p:cNvPr id="10" name="TextBox 9"/>
          <p:cNvSpPr txBox="1"/>
          <p:nvPr/>
        </p:nvSpPr>
        <p:spPr>
          <a:xfrm>
            <a:off x="786384" y="2487168"/>
            <a:ext cx="3163824" cy="3566160"/>
          </a:xfrm>
          <a:prstGeom prst="rect">
            <a:avLst/>
          </a:prstGeom>
          <a:noFill/>
        </p:spPr>
        <p:txBody>
          <a:bodyPr wrap="square" anchor="t" lIns="0" tIns="0" rIns="0" bIns="0">
            <a:spAutoFit/>
          </a:bodyPr>
          <a:lstStyle/>
          <a:p>
            <a:pPr marL="201168" indent="-201168">
              <a:spcAft>
                <a:spcPts val="200"/>
              </a:spcAft>
              <a:buFont typeface="Calibri"/>
              <a:buChar char="•"/>
            </a:pPr>
            <a:r>
              <a:rPr sz="1100" b="1" i="0">
                <a:solidFill>
                  <a:srgbClr val="1A1A2E"/>
                </a:solidFill>
                <a:latin typeface="Calibri"/>
              </a:rPr>
              <a:t>Processor (CPU): </a:t>
            </a:r>
            <a:r>
              <a:rPr sz="1060" b="0" i="0">
                <a:solidFill>
                  <a:srgbClr val="5B6472"/>
                </a:solidFill>
                <a:latin typeface="Calibri"/>
              </a:rPr>
              <a:t>Intel Core Ultra 9 185H (verified in Task Manager).</a:t>
            </a:r>
          </a:p>
          <a:p>
            <a:pPr marL="201168" indent="-201168">
              <a:spcAft>
                <a:spcPts val="200"/>
              </a:spcAft>
              <a:buFont typeface="Calibri"/>
              <a:buChar char="•"/>
            </a:pPr>
            <a:r>
              <a:rPr sz="1100" b="1" i="0">
                <a:solidFill>
                  <a:srgbClr val="1A1A2E"/>
                </a:solidFill>
                <a:latin typeface="Calibri"/>
              </a:rPr>
              <a:t>System Memory: </a:t>
            </a:r>
            <a:r>
              <a:rPr sz="1060" b="0" i="0">
                <a:solidFill>
                  <a:srgbClr val="5B6472"/>
                </a:solidFill>
                <a:latin typeface="Calibri"/>
              </a:rPr>
              <a:t>32 GB installed RAM (~31.4 GB usable in Windows 11).</a:t>
            </a:r>
          </a:p>
          <a:p>
            <a:pPr marL="201168" indent="-201168">
              <a:spcAft>
                <a:spcPts val="200"/>
              </a:spcAft>
              <a:buFont typeface="Calibri"/>
              <a:buChar char="•"/>
            </a:pPr>
            <a:r>
              <a:rPr sz="1100" b="1" i="0">
                <a:solidFill>
                  <a:srgbClr val="1A1A2E"/>
                </a:solidFill>
                <a:latin typeface="Calibri"/>
              </a:rPr>
              <a:t>Storage &amp; Graphics: </a:t>
            </a:r>
            <a:r>
              <a:rPr sz="1060" b="0" i="0">
                <a:solidFill>
                  <a:srgbClr val="5B6472"/>
                </a:solidFill>
                <a:latin typeface="Calibri"/>
              </a:rPr>
              <a:t>Local NVMe SSD; Intel Arc iGPU; AI Boost NPU.</a:t>
            </a:r>
          </a:p>
          <a:p>
            <a:pPr marL="201168" indent="-201168">
              <a:spcAft>
                <a:spcPts val="200"/>
              </a:spcAft>
              <a:buFont typeface="Calibri"/>
              <a:buChar char="•"/>
            </a:pPr>
            <a:r>
              <a:rPr sz="1100" b="1" i="0">
                <a:solidFill>
                  <a:srgbClr val="1A1A2E"/>
                </a:solidFill>
                <a:latin typeface="Calibri"/>
              </a:rPr>
              <a:t>Execution Scope: </a:t>
            </a:r>
            <a:r>
              <a:rPr sz="1060" b="0" i="0">
                <a:solidFill>
                  <a:srgbClr val="5B6472"/>
                </a:solidFill>
                <a:latin typeface="Calibri"/>
              </a:rPr>
              <a:t>Database retrieval benchmarks ran in PostgreSQL; no GPU/NPU acceleration is claimed for those benchmarks. Embedding-generation device utilization was not independently verified.</a:t>
            </a:r>
          </a:p>
          <a:p>
            <a:pPr marL="201168" indent="-201168">
              <a:spcAft>
                <a:spcPts val="200"/>
              </a:spcAft>
              <a:buFont typeface="Calibri"/>
              <a:buChar char="•"/>
            </a:pPr>
            <a:r>
              <a:rPr sz="1100" b="1" i="0">
                <a:solidFill>
                  <a:srgbClr val="1A1A2E"/>
                </a:solidFill>
                <a:latin typeface="Calibri"/>
              </a:rPr>
              <a:t>Footprint vs. shared_buffers: </a:t>
            </a:r>
            <a:r>
              <a:rPr sz="1060" b="0" i="0">
                <a:solidFill>
                  <a:srgbClr val="5B6472"/>
                </a:solidFill>
                <a:latin typeface="Calibri"/>
              </a:rPr>
              <a:t>At 10,000 chunks, the recorded inclusive footprint was 79.20 MiB for FP32 and 35.35 MiB for FP16, each below the configured 128 MB shared_buffers capacity. This is a capacity comparison, not proof of complete residency during every timed trial.</a:t>
            </a:r>
          </a:p>
        </p:txBody>
      </p:sp>
      <p:sp>
        <p:nvSpPr>
          <p:cNvPr id="11" name="Rounded Rectangle 10"/>
          <p:cNvSpPr/>
          <p:nvPr/>
        </p:nvSpPr>
        <p:spPr>
          <a:xfrm>
            <a:off x="4361688" y="2029968"/>
            <a:ext cx="3456432" cy="4133087"/>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361688" y="2029968"/>
            <a:ext cx="3456432" cy="402336"/>
          </a:xfrm>
          <a:prstGeom prst="rect">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07992" y="2093976"/>
            <a:ext cx="3163824" cy="274320"/>
          </a:xfrm>
          <a:prstGeom prst="rect">
            <a:avLst/>
          </a:prstGeom>
          <a:noFill/>
        </p:spPr>
        <p:txBody>
          <a:bodyPr wrap="square" anchor="t" lIns="0" tIns="0" rIns="0" bIns="0">
            <a:spAutoFit/>
          </a:bodyPr>
          <a:lstStyle/>
          <a:p>
            <a:pPr algn="l"/>
            <a:r>
              <a:rPr sz="1380" b="1" i="0">
                <a:solidFill>
                  <a:srgbClr val="FFFFFF"/>
                </a:solidFill>
                <a:latin typeface="Calibri"/>
              </a:rPr>
              <a:t>Software &amp; Database Stack</a:t>
            </a:r>
          </a:p>
        </p:txBody>
      </p:sp>
      <p:sp>
        <p:nvSpPr>
          <p:cNvPr id="14" name="TextBox 13"/>
          <p:cNvSpPr txBox="1"/>
          <p:nvPr/>
        </p:nvSpPr>
        <p:spPr>
          <a:xfrm>
            <a:off x="4507992" y="2487168"/>
            <a:ext cx="3163824" cy="3566160"/>
          </a:xfrm>
          <a:prstGeom prst="rect">
            <a:avLst/>
          </a:prstGeom>
          <a:noFill/>
        </p:spPr>
        <p:txBody>
          <a:bodyPr wrap="square" anchor="t" lIns="0" tIns="0" rIns="0" bIns="0">
            <a:spAutoFit/>
          </a:bodyPr>
          <a:lstStyle/>
          <a:p>
            <a:pPr marL="201168" indent="-201168">
              <a:spcAft>
                <a:spcPts val="200"/>
              </a:spcAft>
              <a:buFont typeface="Calibri"/>
              <a:buChar char="•"/>
            </a:pPr>
            <a:r>
              <a:rPr sz="1100" b="1" i="0">
                <a:solidFill>
                  <a:srgbClr val="1A1A2E"/>
                </a:solidFill>
                <a:latin typeface="Calibri"/>
              </a:rPr>
              <a:t>Database Engine: </a:t>
            </a:r>
            <a:r>
              <a:rPr sz="1060" b="0" i="0">
                <a:solidFill>
                  <a:srgbClr val="5B6472"/>
                </a:solidFill>
                <a:latin typeface="Calibri"/>
              </a:rPr>
              <a:t>PostgreSQL 18.4 with pgvector 0.8.4.</a:t>
            </a:r>
          </a:p>
          <a:p>
            <a:pPr marL="201168" indent="-201168">
              <a:spcAft>
                <a:spcPts val="200"/>
              </a:spcAft>
              <a:buFont typeface="Calibri"/>
              <a:buChar char="•"/>
            </a:pPr>
            <a:r>
              <a:rPr sz="1100" b="1" i="0">
                <a:solidFill>
                  <a:srgbClr val="1A1A2E"/>
                </a:solidFill>
                <a:latin typeface="Calibri"/>
              </a:rPr>
              <a:t>Python &amp; Tests: </a:t>
            </a:r>
            <a:r>
              <a:rPr sz="1060" b="0" i="0">
                <a:solidFill>
                  <a:srgbClr val="5B6472"/>
                </a:solidFill>
                <a:latin typeface="Calibri"/>
              </a:rPr>
              <a:t>Python 3.13.x, psycopg 3.3.4, pytest 9.1.1 (43/43 passing across implemented modules).</a:t>
            </a:r>
          </a:p>
          <a:p>
            <a:pPr marL="201168" indent="-201168">
              <a:spcAft>
                <a:spcPts val="200"/>
              </a:spcAft>
              <a:buFont typeface="Calibri"/>
              <a:buChar char="•"/>
            </a:pPr>
            <a:r>
              <a:rPr sz="1100" b="1" i="0">
                <a:solidFill>
                  <a:srgbClr val="1A1A2E"/>
                </a:solidFill>
                <a:latin typeface="Calibri"/>
              </a:rPr>
              <a:t>Embedding Model: </a:t>
            </a:r>
            <a:r>
              <a:rPr sz="1060" b="0" i="0">
                <a:solidFill>
                  <a:srgbClr val="5B6472"/>
                </a:solidFill>
                <a:latin typeface="Calibri"/>
              </a:rPr>
              <a:t>Local Ollama with nomic-embed-text (768-D; exact Ollama version omitted as sources differ).</a:t>
            </a:r>
          </a:p>
          <a:p>
            <a:pPr marL="201168" indent="-201168">
              <a:spcAft>
                <a:spcPts val="200"/>
              </a:spcAft>
              <a:buFont typeface="Calibri"/>
              <a:buChar char="•"/>
            </a:pPr>
            <a:r>
              <a:rPr sz="1100" b="1" i="0">
                <a:solidFill>
                  <a:srgbClr val="1A1A2E"/>
                </a:solidFill>
                <a:latin typeface="Calibri"/>
              </a:rPr>
              <a:t>PostgreSQL Memory: </a:t>
            </a:r>
            <a:r>
              <a:rPr sz="1060" b="0" i="0">
                <a:solidFill>
                  <a:srgbClr val="5B6472"/>
                </a:solidFill>
                <a:latin typeface="Calibri"/>
              </a:rPr>
              <a:t>shared_buffers = 128 MB, maintenance_work_mem = 64 MB, work_mem = 4 MB.</a:t>
            </a:r>
          </a:p>
          <a:p>
            <a:pPr marL="201168" indent="-201168">
              <a:spcAft>
                <a:spcPts val="200"/>
              </a:spcAft>
              <a:buFont typeface="Calibri"/>
              <a:buChar char="•"/>
            </a:pPr>
            <a:r>
              <a:rPr sz="1100" b="1" i="0">
                <a:solidFill>
                  <a:srgbClr val="1A1A2E"/>
                </a:solidFill>
                <a:latin typeface="Calibri"/>
              </a:rPr>
              <a:t>HNSW Parameters: </a:t>
            </a:r>
            <a:r>
              <a:rPr sz="1060" b="0" i="0">
                <a:solidFill>
                  <a:srgbClr val="5B6472"/>
                </a:solidFill>
                <a:latin typeface="Calibri"/>
              </a:rPr>
              <a:t>m = 16, ef_construction = 64, query ef_search = 40.</a:t>
            </a:r>
          </a:p>
        </p:txBody>
      </p:sp>
      <p:sp>
        <p:nvSpPr>
          <p:cNvPr id="15" name="Rounded Rectangle 14"/>
          <p:cNvSpPr/>
          <p:nvPr/>
        </p:nvSpPr>
        <p:spPr>
          <a:xfrm>
            <a:off x="8083295" y="2029968"/>
            <a:ext cx="3456432" cy="4133087"/>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083295" y="2029968"/>
            <a:ext cx="3456432" cy="402336"/>
          </a:xfrm>
          <a:prstGeom prst="rect">
            <a:avLst/>
          </a:prstGeom>
          <a:solidFill>
            <a:srgbClr val="006D5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29599" y="2093976"/>
            <a:ext cx="3163824" cy="274320"/>
          </a:xfrm>
          <a:prstGeom prst="rect">
            <a:avLst/>
          </a:prstGeom>
          <a:noFill/>
        </p:spPr>
        <p:txBody>
          <a:bodyPr wrap="square" anchor="t" lIns="0" tIns="0" rIns="0" bIns="0">
            <a:spAutoFit/>
          </a:bodyPr>
          <a:lstStyle/>
          <a:p>
            <a:pPr algn="l"/>
            <a:r>
              <a:rPr sz="1380" b="1" i="0">
                <a:solidFill>
                  <a:srgbClr val="FFFFFF"/>
                </a:solidFill>
                <a:latin typeface="Calibri"/>
              </a:rPr>
              <a:t>Protocol &amp; Statistical Scope</a:t>
            </a:r>
          </a:p>
        </p:txBody>
      </p:sp>
      <p:sp>
        <p:nvSpPr>
          <p:cNvPr id="18" name="TextBox 17"/>
          <p:cNvSpPr txBox="1"/>
          <p:nvPr/>
        </p:nvSpPr>
        <p:spPr>
          <a:xfrm>
            <a:off x="8229599" y="2487168"/>
            <a:ext cx="3163824" cy="3566160"/>
          </a:xfrm>
          <a:prstGeom prst="rect">
            <a:avLst/>
          </a:prstGeom>
          <a:noFill/>
        </p:spPr>
        <p:txBody>
          <a:bodyPr wrap="square" anchor="t" lIns="0" tIns="0" rIns="0" bIns="0">
            <a:spAutoFit/>
          </a:bodyPr>
          <a:lstStyle/>
          <a:p>
            <a:pPr marL="201168" indent="-201168">
              <a:spcAft>
                <a:spcPts val="200"/>
              </a:spcAft>
              <a:buFont typeface="Calibri"/>
              <a:buChar char="•"/>
            </a:pPr>
            <a:r>
              <a:rPr sz="1100" b="1" i="0">
                <a:solidFill>
                  <a:srgbClr val="1A1A2E"/>
                </a:solidFill>
                <a:latin typeface="Calibri"/>
              </a:rPr>
              <a:t>100 Timed Trials: </a:t>
            </a:r>
            <a:r>
              <a:rPr sz="1060" b="0" i="0">
                <a:solidFill>
                  <a:srgbClr val="5B6472"/>
                </a:solidFill>
                <a:latin typeface="Calibri"/>
              </a:rPr>
              <a:t>20 fixed queries x 5 passes after 2 warm-ups (repeated runs, not 100 independent queries).</a:t>
            </a:r>
          </a:p>
          <a:p>
            <a:pPr marL="201168" indent="-201168">
              <a:spcAft>
                <a:spcPts val="200"/>
              </a:spcAft>
              <a:buFont typeface="Calibri"/>
              <a:buChar char="•"/>
            </a:pPr>
            <a:r>
              <a:rPr sz="1100" b="1" i="0">
                <a:solidFill>
                  <a:srgbClr val="1A1A2E"/>
                </a:solidFill>
                <a:latin typeface="Calibri"/>
              </a:rPr>
              <a:t>Statistical Scope: </a:t>
            </a:r>
            <a:r>
              <a:rPr sz="1060" b="0" i="0">
                <a:solidFill>
                  <a:srgbClr val="5B6472"/>
                </a:solidFill>
                <a:latin typeface="Calibri"/>
              </a:rPr>
              <a:t>Mean, median, IQR, min, max, and StDev describe observed runs (no CIs or significance tests).</a:t>
            </a:r>
          </a:p>
          <a:p>
            <a:pPr marL="201168" indent="-201168">
              <a:spcAft>
                <a:spcPts val="200"/>
              </a:spcAft>
              <a:buFont typeface="Calibri"/>
              <a:buChar char="•"/>
            </a:pPr>
            <a:r>
              <a:rPr sz="1100" b="1" i="0">
                <a:solidFill>
                  <a:srgbClr val="1A1A2E"/>
                </a:solidFill>
                <a:latin typeface="Calibri"/>
              </a:rPr>
              <a:t>Alternating Order: </a:t>
            </a:r>
            <a:r>
              <a:rPr sz="1060" b="0" i="0">
                <a:solidFill>
                  <a:srgbClr val="5B6472"/>
                </a:solidFill>
                <a:latin typeface="Calibri"/>
              </a:rPr>
              <a:t>Alternates FP32-&gt;FP16 and FP16-&gt;FP32 by pass to reduce order bias.</a:t>
            </a:r>
          </a:p>
          <a:p>
            <a:pPr marL="201168" indent="-201168">
              <a:spcAft>
                <a:spcPts val="200"/>
              </a:spcAft>
              <a:buFont typeface="Calibri"/>
              <a:buChar char="•"/>
            </a:pPr>
            <a:r>
              <a:rPr sz="1100" b="1" i="0">
                <a:solidFill>
                  <a:srgbClr val="1A1A2E"/>
                </a:solidFill>
                <a:latin typeface="Calibri"/>
              </a:rPr>
              <a:t>Timed Top-K Cutoff: </a:t>
            </a:r>
            <a:r>
              <a:rPr sz="1060" b="0" i="0">
                <a:solidFill>
                  <a:srgbClr val="5B6472"/>
                </a:solidFill>
                <a:latin typeface="Calibri"/>
              </a:rPr>
              <a:t>Benchmark harness runs LIMIT 10 (max(top_k_values) = 10) in timed loops.</a:t>
            </a:r>
          </a:p>
          <a:p>
            <a:pPr marL="201168" indent="-201168">
              <a:spcAft>
                <a:spcPts val="200"/>
              </a:spcAft>
              <a:buFont typeface="Calibri"/>
              <a:buChar char="•"/>
            </a:pPr>
            <a:r>
              <a:rPr sz="1100" b="1" i="0">
                <a:solidFill>
                  <a:srgbClr val="1A1A2E"/>
                </a:solidFill>
                <a:latin typeface="Calibri"/>
              </a:rPr>
              <a:t>Timing Boundaries: </a:t>
            </a:r>
            <a:r>
              <a:rPr sz="1060" b="0" i="0">
                <a:solidFill>
                  <a:srgbClr val="5B6472"/>
                </a:solidFill>
                <a:latin typeface="Calibri"/>
              </a:rPr>
              <a:t>Stage 3 timed Tx/GUC block; Stage 4 v2 set GUCs outside timer (cur.execute + fetchall 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6. RESULTS — PHYSICAL STORAGE &amp; TOAST BEHAVIOUR</a:t>
            </a:r>
          </a:p>
          <a:p>
            <a:pPr algn="l">
              <a:spcAft>
                <a:spcPts val="300"/>
              </a:spcAft>
            </a:pPr>
            <a:r>
              <a:rPr sz="2700" b="1" i="0">
                <a:solidFill>
                  <a:srgbClr val="21295C"/>
                </a:solidFill>
                <a:latin typeface="Calibri"/>
              </a:rPr>
              <a:t>FP16 Cuts Inclusive Storage by 55.35%–55.37% and Eliminates TOAST Data</a:t>
            </a:r>
          </a:p>
          <a:p>
            <a:pPr algn="l"/>
            <a:r>
              <a:rPr sz="1350" b="0" i="0">
                <a:solidFill>
                  <a:srgbClr val="5B6472"/>
                </a:solidFill>
                <a:latin typeface="Calibri"/>
              </a:rPr>
              <a:t>Disaggregated storage across base relation, standalone HNSW index, and post-index inclusive total (chart1_storage.csv)</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7 / 16</a:t>
            </a:r>
          </a:p>
        </p:txBody>
      </p:sp>
      <p:graphicFrame>
        <p:nvGraphicFramePr>
          <p:cNvPr id="7" name="Chart 6"/>
          <p:cNvGraphicFramePr>
            <a:graphicFrameLocks noGrp="1"/>
          </p:cNvGraphicFramePr>
          <p:nvPr/>
        </p:nvGraphicFramePr>
        <p:xfrm>
          <a:off x="640080" y="2029968"/>
          <a:ext cx="5440680" cy="40690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6263640" y="2029968"/>
          <a:ext cx="5285232" cy="2212848"/>
        </p:xfrm>
        <a:graphic>
          <a:graphicData uri="http://schemas.openxmlformats.org/drawingml/2006/table">
            <a:tbl>
              <a:tblPr firstRow="1" bandRow="1">
                <a:tableStyleId>{5C22544A-7EE6-4342-B048-85BDC9FD1C3A}</a:tableStyleId>
              </a:tblPr>
              <a:tblGrid>
                <a:gridCol w="1719072"/>
                <a:gridCol w="1170432"/>
                <a:gridCol w="1197864"/>
                <a:gridCol w="1197864"/>
              </a:tblGrid>
              <a:tr h="316121">
                <a:tc>
                  <a:txBody>
                    <a:bodyPr/>
                    <a:lstStyle/>
                    <a:p>
                      <a:pPr algn="l">
                        <a:spcBef>
                          <a:spcPts val="0"/>
                        </a:spcBef>
                        <a:spcAft>
                          <a:spcPts val="0"/>
                        </a:spcAft>
                      </a:pPr>
                      <a:r>
                        <a:rPr sz="1100" b="1" i="0">
                          <a:solidFill>
                            <a:srgbClr val="FFFFFF"/>
                          </a:solidFill>
                          <a:latin typeface="Calibri"/>
                        </a:rPr>
                        <a:t>Storage Scope (FP32 -&gt; FP16)</a:t>
                      </a:r>
                    </a:p>
                  </a:txBody>
                  <a:tcPr anchor="ctr" marT="14000" marB="14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1,001 Chunks</a:t>
                      </a:r>
                    </a:p>
                  </a:txBody>
                  <a:tcPr anchor="ctr" marT="14000" marB="14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5,000 Chunks</a:t>
                      </a:r>
                    </a:p>
                  </a:txBody>
                  <a:tcPr anchor="ctr" marT="14000" marB="14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10,000 Chunks</a:t>
                      </a:r>
                    </a:p>
                  </a:txBody>
                  <a:tcPr anchor="ctr" marT="14000" marB="14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r>
              <a:tr h="316121">
                <a:tc>
                  <a:txBody>
                    <a:bodyPr/>
                    <a:lstStyle/>
                    <a:p>
                      <a:pPr algn="l">
                        <a:spcBef>
                          <a:spcPts val="0"/>
                        </a:spcBef>
                        <a:spcAft>
                          <a:spcPts val="0"/>
                        </a:spcAft>
                      </a:pPr>
                      <a:r>
                        <a:rPr sz="1080" b="1" i="0">
                          <a:solidFill>
                            <a:srgbClr val="1A1A2E"/>
                          </a:solidFill>
                          <a:latin typeface="Calibri"/>
                        </a:rPr>
                        <a:t>FP32 TOAST Data ('main')</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3.91 MiB</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19.53 MiB</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39.06 MiB</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16121">
                <a:tc>
                  <a:txBody>
                    <a:bodyPr/>
                    <a:lstStyle/>
                    <a:p>
                      <a:pPr algn="l">
                        <a:spcBef>
                          <a:spcPts val="0"/>
                        </a:spcBef>
                        <a:spcAft>
                          <a:spcPts val="0"/>
                        </a:spcAft>
                      </a:pPr>
                      <a:r>
                        <a:rPr sz="1080" b="1" i="0">
                          <a:solidFill>
                            <a:srgbClr val="1A1A2E"/>
                          </a:solidFill>
                          <a:latin typeface="Calibri"/>
                        </a:rPr>
                        <a:t>FP16 TOAST Data ('main')</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0 B (8 KiB idx)</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0 B (8 KiB idx)</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0 B (8 KiB idx)</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r h="316121">
                <a:tc>
                  <a:txBody>
                    <a:bodyPr/>
                    <a:lstStyle/>
                    <a:p>
                      <a:pPr algn="l">
                        <a:spcBef>
                          <a:spcPts val="0"/>
                        </a:spcBef>
                        <a:spcAft>
                          <a:spcPts val="0"/>
                        </a:spcAft>
                      </a:pPr>
                      <a:r>
                        <a:rPr sz="1080" b="1" i="0">
                          <a:solidFill>
                            <a:srgbClr val="1A1A2E"/>
                          </a:solidFill>
                          <a:latin typeface="Calibri"/>
                        </a:rPr>
                        <a:t>Pre-HNSW Base Relation</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4.13-&gt;1.65 (60.11% lower)</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20.20-&gt;7.98 (60.52% lower)</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40.31-&gt;15.90 (60.56% lower)</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16121">
                <a:tc>
                  <a:txBody>
                    <a:bodyPr/>
                    <a:lstStyle/>
                    <a:p>
                      <a:pPr algn="l">
                        <a:spcBef>
                          <a:spcPts val="0"/>
                        </a:spcBef>
                        <a:spcAft>
                          <a:spcPts val="0"/>
                        </a:spcAft>
                      </a:pPr>
                      <a:r>
                        <a:rPr sz="1080" b="1" i="0">
                          <a:solidFill>
                            <a:srgbClr val="1A1A2E"/>
                          </a:solidFill>
                          <a:latin typeface="Calibri"/>
                        </a:rPr>
                        <a:t>HNSW Index Only</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3.90-&gt;1.95 (49.90% lower)</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19.48-&gt;9.74 (49.98% lower)</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38.89-&gt;19.45 (49.98% lower)</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r h="316121">
                <a:tc>
                  <a:txBody>
                    <a:bodyPr/>
                    <a:lstStyle/>
                    <a:p>
                      <a:pPr algn="l">
                        <a:spcBef>
                          <a:spcPts val="0"/>
                        </a:spcBef>
                        <a:spcAft>
                          <a:spcPts val="0"/>
                        </a:spcAft>
                      </a:pPr>
                      <a:r>
                        <a:rPr sz="1080" b="1" i="0">
                          <a:solidFill>
                            <a:srgbClr val="1A1A2E"/>
                          </a:solidFill>
                          <a:latin typeface="Calibri"/>
                        </a:rPr>
                        <a:t>Post-Index Inclusive Total</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Not recorded (Stg 3)</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39.68-&gt;17.72 (55.35% lower)</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79.20-&gt;35.35 (55.37% lower)</a:t>
                      </a:r>
                    </a:p>
                  </a:txBody>
                  <a:tcPr anchor="ctr" marT="14000" marB="14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16122">
                <a:tc>
                  <a:txBody>
                    <a:bodyPr/>
                    <a:lstStyle/>
                    <a:p>
                      <a:pPr algn="l">
                        <a:spcBef>
                          <a:spcPts val="0"/>
                        </a:spcBef>
                        <a:spcAft>
                          <a:spcPts val="0"/>
                        </a:spcAft>
                      </a:pPr>
                      <a:r>
                        <a:rPr sz="1080" b="1" i="0">
                          <a:solidFill>
                            <a:srgbClr val="1A1A2E"/>
                          </a:solidFill>
                          <a:latin typeface="Calibri"/>
                        </a:rPr>
                        <a:t>Saved Inclusive Space</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21.96 MiB saved</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43.85 MiB saved</a:t>
                      </a:r>
                    </a:p>
                  </a:txBody>
                  <a:tcPr anchor="ctr" marT="14000" marB="14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bl>
          </a:graphicData>
        </a:graphic>
      </p:graphicFrame>
      <p:sp>
        <p:nvSpPr>
          <p:cNvPr id="9" name="Rounded Rectangle 8"/>
          <p:cNvSpPr/>
          <p:nvPr/>
        </p:nvSpPr>
        <p:spPr>
          <a:xfrm>
            <a:off x="6263640" y="4626864"/>
            <a:ext cx="5285232" cy="1517904"/>
          </a:xfrm>
          <a:prstGeom prst="roundRect">
            <a:avLst>
              <a:gd name="adj" fmla="val 4000"/>
            </a:avLst>
          </a:prstGeom>
          <a:solidFill>
            <a:srgbClr val="E6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4808" y="4754880"/>
            <a:ext cx="4882896" cy="1261872"/>
          </a:xfrm>
          <a:prstGeom prst="rect">
            <a:avLst/>
          </a:prstGeom>
          <a:noFill/>
        </p:spPr>
        <p:txBody>
          <a:bodyPr wrap="square" anchor="t" lIns="0" tIns="0" rIns="0" bIns="0">
            <a:spAutoFit/>
          </a:bodyPr>
          <a:lstStyle/>
          <a:p>
            <a:pPr>
              <a:spcAft>
                <a:spcPts val="300"/>
              </a:spcAft>
            </a:pPr>
            <a:r>
              <a:rPr sz="1400" b="1" i="0">
                <a:solidFill>
                  <a:srgbClr val="006D5B"/>
                </a:solidFill>
                <a:latin typeface="Calibri"/>
              </a:rPr>
              <a:t>Physical Storage Finding &amp; Scope Notes</a:t>
            </a:r>
          </a:p>
          <a:p>
            <a:pPr marL="201168" indent="-201168">
              <a:spcAft>
                <a:spcPts val="250"/>
              </a:spcAft>
              <a:buFont typeface="Calibri"/>
              <a:buChar char="•"/>
            </a:pPr>
            <a:r>
              <a:rPr sz="1180" b="1" i="0">
                <a:solidFill>
                  <a:srgbClr val="1A1A2E"/>
                </a:solidFill>
                <a:latin typeface="Calibri"/>
              </a:rPr>
              <a:t>Inline Heap Placement: </a:t>
            </a:r>
            <a:r>
              <a:rPr sz="1140" b="0" i="0">
                <a:solidFill>
                  <a:srgbClr val="1A1A2E"/>
                </a:solidFill>
                <a:latin typeface="Calibri"/>
              </a:rPr>
              <a:t>FP16 vectors stayed inline in 8 KiB heap pages with 0 B out-of-line TOAST data payload (an empty 8 KiB TOAST index shell remains).</a:t>
            </a:r>
          </a:p>
          <a:p>
            <a:pPr marL="201168" indent="-201168">
              <a:spcAft>
                <a:spcPts val="250"/>
              </a:spcAft>
              <a:buFont typeface="Calibri"/>
              <a:buChar char="•"/>
            </a:pPr>
            <a:r>
              <a:rPr sz="1180" b="1" i="0">
                <a:solidFill>
                  <a:srgbClr val="1A1A2E"/>
                </a:solidFill>
                <a:latin typeface="Calibri"/>
              </a:rPr>
              <a:t>Datum &amp; Scope Notes: </a:t>
            </a:r>
            <a:r>
              <a:rPr sz="1140" b="0" i="0">
                <a:solidFill>
                  <a:srgbClr val="1A1A2E"/>
                </a:solidFill>
                <a:latin typeface="Calibri"/>
              </a:rPr>
              <a:t>Empirical FP32 datum is 3,076 B vs. 3,080 B formula (FP16: 1,544 B). Post-index inclusive total at 1,001 chunks was not recorded in Stage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7. RESULTS — HNSW INDEX FOOTPRINT &amp; BUILD DURATION</a:t>
            </a:r>
          </a:p>
          <a:p>
            <a:pPr algn="l">
              <a:spcAft>
                <a:spcPts val="300"/>
              </a:spcAft>
            </a:pPr>
            <a:r>
              <a:rPr sz="2700" b="1" i="0">
                <a:solidFill>
                  <a:srgbClr val="21295C"/>
                </a:solidFill>
                <a:latin typeface="Calibri"/>
              </a:rPr>
              <a:t>FP16 Halves HNSW Index Size (49.90%–49.98%) Across All Tested Scales</a:t>
            </a:r>
          </a:p>
          <a:p>
            <a:pPr algn="l"/>
            <a:r>
              <a:rPr sz="1350" b="0" i="0">
                <a:solidFill>
                  <a:srgbClr val="5B6472"/>
                </a:solidFill>
                <a:latin typeface="Calibri"/>
              </a:rPr>
              <a:t>Standalone HNSW index footprint (chart1_storage.csv) and single-run CREATE INDEX wall-clock observations</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8 / 16</a:t>
            </a:r>
          </a:p>
        </p:txBody>
      </p:sp>
      <p:graphicFrame>
        <p:nvGraphicFramePr>
          <p:cNvPr id="7" name="Chart 6"/>
          <p:cNvGraphicFramePr>
            <a:graphicFrameLocks noGrp="1"/>
          </p:cNvGraphicFramePr>
          <p:nvPr/>
        </p:nvGraphicFramePr>
        <p:xfrm>
          <a:off x="640080" y="2029968"/>
          <a:ext cx="5349240" cy="40690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6172200" y="2029968"/>
          <a:ext cx="5376672" cy="1508760"/>
        </p:xfrm>
        <a:graphic>
          <a:graphicData uri="http://schemas.openxmlformats.org/drawingml/2006/table">
            <a:tbl>
              <a:tblPr firstRow="1" bandRow="1">
                <a:tableStyleId>{5C22544A-7EE6-4342-B048-85BDC9FD1C3A}</a:tableStyleId>
              </a:tblPr>
              <a:tblGrid>
                <a:gridCol w="1024128"/>
                <a:gridCol w="914400"/>
                <a:gridCol w="1353312"/>
                <a:gridCol w="896112"/>
                <a:gridCol w="1188720"/>
              </a:tblGrid>
              <a:tr h="377190">
                <a:tc>
                  <a:txBody>
                    <a:bodyPr/>
                    <a:lstStyle/>
                    <a:p>
                      <a:pPr algn="l">
                        <a:spcBef>
                          <a:spcPts val="0"/>
                        </a:spcBef>
                        <a:spcAft>
                          <a:spcPts val="0"/>
                        </a:spcAft>
                      </a:pPr>
                      <a:r>
                        <a:rPr sz="1100" b="1" i="0">
                          <a:solidFill>
                            <a:srgbClr val="FFFFFF"/>
                          </a:solidFill>
                          <a:latin typeface="Calibri"/>
                        </a:rPr>
                        <a:t>Corpus Scale</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FP32 HNSW</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FP16 HNSW (% Red.)</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FP32 Build</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FP16 Build (1-Run)</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r>
              <a:tr h="377190">
                <a:tc>
                  <a:txBody>
                    <a:bodyPr/>
                    <a:lstStyle/>
                    <a:p>
                      <a:pPr algn="l">
                        <a:spcBef>
                          <a:spcPts val="0"/>
                        </a:spcBef>
                        <a:spcAft>
                          <a:spcPts val="0"/>
                        </a:spcAft>
                      </a:pPr>
                      <a:r>
                        <a:rPr sz="1080" b="1" i="0">
                          <a:solidFill>
                            <a:srgbClr val="1A1A2E"/>
                          </a:solidFill>
                          <a:latin typeface="Calibri"/>
                        </a:rPr>
                        <a:t>1,001c (Stg 3)</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3.90 MiB</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1.95 MiB (49.90% lower)</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0.2334 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0.1606 s (31.18%* lower)</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77190">
                <a:tc>
                  <a:txBody>
                    <a:bodyPr/>
                    <a:lstStyle/>
                    <a:p>
                      <a:pPr algn="l">
                        <a:spcBef>
                          <a:spcPts val="0"/>
                        </a:spcBef>
                        <a:spcAft>
                          <a:spcPts val="0"/>
                        </a:spcAft>
                      </a:pPr>
                      <a:r>
                        <a:rPr sz="1080" b="1" i="0">
                          <a:solidFill>
                            <a:srgbClr val="1A1A2E"/>
                          </a:solidFill>
                          <a:latin typeface="Calibri"/>
                        </a:rPr>
                        <a:t>5,000c (Stg 4)</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19.48 MiB</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9.74 MiB (49.98% lower)</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1.4615 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1.2640 s (13.52% lower)</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r h="377190">
                <a:tc>
                  <a:txBody>
                    <a:bodyPr/>
                    <a:lstStyle/>
                    <a:p>
                      <a:pPr algn="l">
                        <a:spcBef>
                          <a:spcPts val="0"/>
                        </a:spcBef>
                        <a:spcAft>
                          <a:spcPts val="0"/>
                        </a:spcAft>
                      </a:pPr>
                      <a:r>
                        <a:rPr sz="1080" b="1" i="0">
                          <a:solidFill>
                            <a:srgbClr val="1A1A2E"/>
                          </a:solidFill>
                          <a:latin typeface="Calibri"/>
                        </a:rPr>
                        <a:t>10,000c (Stg 4)</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38.89 MiB</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19.45 MiB (49.98% lower)</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3.7617 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2.6411 s (29.79% lower)</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bl>
          </a:graphicData>
        </a:graphic>
      </p:graphicFrame>
      <p:sp>
        <p:nvSpPr>
          <p:cNvPr id="9" name="Rounded Rectangle 8"/>
          <p:cNvSpPr/>
          <p:nvPr/>
        </p:nvSpPr>
        <p:spPr>
          <a:xfrm>
            <a:off x="6172200" y="3749039"/>
            <a:ext cx="5376672" cy="239572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373368" y="3913632"/>
            <a:ext cx="4974336" cy="2066543"/>
          </a:xfrm>
          <a:prstGeom prst="rect">
            <a:avLst/>
          </a:prstGeom>
          <a:noFill/>
        </p:spPr>
        <p:txBody>
          <a:bodyPr wrap="square" anchor="t" lIns="0" tIns="0" rIns="0" bIns="0">
            <a:spAutoFit/>
          </a:bodyPr>
          <a:lstStyle/>
          <a:p>
            <a:pPr>
              <a:spcAft>
                <a:spcPts val="400"/>
              </a:spcAft>
            </a:pPr>
            <a:r>
              <a:rPr sz="1400" b="1" i="0">
                <a:solidFill>
                  <a:srgbClr val="21295C"/>
                </a:solidFill>
                <a:latin typeface="Calibri"/>
              </a:rPr>
              <a:t>Index Construction &amp; Memory Budget Notes</a:t>
            </a:r>
          </a:p>
          <a:p>
            <a:pPr marL="201168" indent="-201168">
              <a:spcAft>
                <a:spcPts val="250"/>
              </a:spcAft>
              <a:buFont typeface="Calibri"/>
              <a:buChar char="•"/>
            </a:pPr>
            <a:r>
              <a:rPr sz="1140" b="1" i="0">
                <a:solidFill>
                  <a:srgbClr val="065A82"/>
                </a:solidFill>
                <a:latin typeface="Calibri"/>
              </a:rPr>
              <a:t>Matched HNSW Build Parameters: </a:t>
            </a:r>
            <a:r>
              <a:rPr sz="1100" b="0" i="0">
                <a:solidFill>
                  <a:srgbClr val="1A1A2E"/>
                </a:solidFill>
                <a:latin typeface="Calibri"/>
              </a:rPr>
              <a:t>Both indexes used m = 16, ef_construction = 64 (vector_cosine_ops vs. halfvec_cosine_ops) in maintenance_work_mem = 64 MB; matched parameters do not imply identical FP32/FP16 graph topologies.</a:t>
            </a:r>
          </a:p>
          <a:p>
            <a:pPr marL="201168" indent="-201168">
              <a:spcAft>
                <a:spcPts val="250"/>
              </a:spcAft>
              <a:buFont typeface="Calibri"/>
              <a:buChar char="•"/>
            </a:pPr>
            <a:r>
              <a:rPr sz="1140" b="1" i="0">
                <a:solidFill>
                  <a:srgbClr val="065A82"/>
                </a:solidFill>
                <a:latin typeface="Calibri"/>
              </a:rPr>
              <a:t>Single-Run Build Qualification: </a:t>
            </a:r>
            <a:r>
              <a:rPr sz="1100" b="0" i="0">
                <a:solidFill>
                  <a:srgbClr val="1A1A2E"/>
                </a:solidFill>
                <a:latin typeface="Calibri"/>
              </a:rPr>
              <a:t>Recorded CREATE INDEX times (0.2334 s vs. 0.1606 s at 1k; 1.4615 s vs. 1.2640 s at 5k; 3.7617 s vs. 2.6411 s at 10k) are single-run observations, NOT repeated-trial statistical distributions.</a:t>
            </a:r>
          </a:p>
          <a:p>
            <a:pPr marL="201168" indent="-201168">
              <a:spcAft>
                <a:spcPts val="250"/>
              </a:spcAft>
              <a:buFont typeface="Calibri"/>
              <a:buChar char="•"/>
            </a:pPr>
            <a:r>
              <a:rPr sz="1140" b="1" i="0">
                <a:solidFill>
                  <a:srgbClr val="065A82"/>
                </a:solidFill>
                <a:latin typeface="Calibri"/>
              </a:rPr>
              <a:t>Rounding Note (*): </a:t>
            </a:r>
            <a:r>
              <a:rPr sz="1100" b="0" i="0">
                <a:solidFill>
                  <a:srgbClr val="1A1A2E"/>
                </a:solidFill>
                <a:latin typeface="Calibri"/>
              </a:rPr>
              <a:t>Stage 3 report text prints 31.18% at 1,001 chunks (recomputing from rounded 0.2334 s and 0.1606 s gives 31.19%). No general scaling law is claimed.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8. RESULTS — STAGE 4 V2 EXACT-SEARCH LATENCY</a:t>
            </a:r>
          </a:p>
          <a:p>
            <a:pPr algn="l">
              <a:spcAft>
                <a:spcPts val="300"/>
              </a:spcAft>
            </a:pPr>
            <a:r>
              <a:rPr sz="2700" b="1" i="0">
                <a:solidFill>
                  <a:srgbClr val="21295C"/>
                </a:solidFill>
                <a:latin typeface="Calibri"/>
              </a:rPr>
              <a:t>FP16 Achieves 6.22x–7.24x Lower Mean Latency in Exact Seq Scans</a:t>
            </a:r>
          </a:p>
          <a:p>
            <a:pPr algn="l"/>
            <a:r>
              <a:rPr sz="1350" b="0" i="0">
                <a:solidFill>
                  <a:srgbClr val="5B6472"/>
                </a:solidFill>
                <a:latin typeface="Calibri"/>
              </a:rPr>
              <a:t>Observed client-side timings across 100 timed trials per configuration (20 fixed queries x 5 passes; chart4_latency.csv)</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9 / 16</a:t>
            </a:r>
          </a:p>
        </p:txBody>
      </p:sp>
      <p:graphicFrame>
        <p:nvGraphicFramePr>
          <p:cNvPr id="7" name="Chart 6"/>
          <p:cNvGraphicFramePr>
            <a:graphicFrameLocks noGrp="1"/>
          </p:cNvGraphicFramePr>
          <p:nvPr/>
        </p:nvGraphicFramePr>
        <p:xfrm>
          <a:off x="640080" y="2029968"/>
          <a:ext cx="5349240" cy="40690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6172200" y="2029968"/>
          <a:ext cx="5376672" cy="1737360"/>
        </p:xfrm>
        <a:graphic>
          <a:graphicData uri="http://schemas.openxmlformats.org/drawingml/2006/table">
            <a:tbl>
              <a:tblPr firstRow="1" bandRow="1">
                <a:tableStyleId>{5C22544A-7EE6-4342-B048-85BDC9FD1C3A}</a:tableStyleId>
              </a:tblPr>
              <a:tblGrid>
                <a:gridCol w="868680"/>
                <a:gridCol w="749808"/>
                <a:gridCol w="777240"/>
                <a:gridCol w="877824"/>
                <a:gridCol w="877824"/>
                <a:gridCol w="1225296"/>
              </a:tblGrid>
              <a:tr h="347472">
                <a:tc>
                  <a:txBody>
                    <a:bodyPr/>
                    <a:lstStyle/>
                    <a:p>
                      <a:pPr algn="l">
                        <a:spcBef>
                          <a:spcPts val="0"/>
                        </a:spcBef>
                        <a:spcAft>
                          <a:spcPts val="0"/>
                        </a:spcAft>
                      </a:pPr>
                      <a:r>
                        <a:rPr sz="1100" b="1" i="0">
                          <a:solidFill>
                            <a:srgbClr val="FFFFFF"/>
                          </a:solidFill>
                          <a:latin typeface="Calibri"/>
                        </a:rPr>
                        <a:t>Corpus &amp; Rep</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Mean</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Median</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IQR / StDev</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Min–Max</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Speedup vs. FP32</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r>
              <a:tr h="347472">
                <a:tc>
                  <a:txBody>
                    <a:bodyPr/>
                    <a:lstStyle/>
                    <a:p>
                      <a:pPr algn="l">
                        <a:spcBef>
                          <a:spcPts val="0"/>
                        </a:spcBef>
                        <a:spcAft>
                          <a:spcPts val="0"/>
                        </a:spcAft>
                      </a:pPr>
                      <a:r>
                        <a:rPr sz="1080" b="1" i="0">
                          <a:solidFill>
                            <a:srgbClr val="1A1A2E"/>
                          </a:solidFill>
                          <a:latin typeface="Calibri"/>
                        </a:rPr>
                        <a:t>5,000 FP32</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42.285 ms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44.694 ms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16.02 / 10.08</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10.91–57.10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Baseline (1.00x)</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47472">
                <a:tc>
                  <a:txBody>
                    <a:bodyPr/>
                    <a:lstStyle/>
                    <a:p>
                      <a:pPr algn="l">
                        <a:spcBef>
                          <a:spcPts val="0"/>
                        </a:spcBef>
                        <a:spcAft>
                          <a:spcPts val="0"/>
                        </a:spcAft>
                      </a:pPr>
                      <a:r>
                        <a:rPr sz="1080" b="1" i="0">
                          <a:solidFill>
                            <a:srgbClr val="1A1A2E"/>
                          </a:solidFill>
                          <a:latin typeface="Calibri"/>
                        </a:rPr>
                        <a:t>5,000 FP16</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6.802 ms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6.277 ms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2.61 / 2.32</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3.20–15.67</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6.22x mean / 7.12x med</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r h="347472">
                <a:tc>
                  <a:txBody>
                    <a:bodyPr/>
                    <a:lstStyle/>
                    <a:p>
                      <a:pPr algn="l">
                        <a:spcBef>
                          <a:spcPts val="0"/>
                        </a:spcBef>
                        <a:spcAft>
                          <a:spcPts val="0"/>
                        </a:spcAft>
                      </a:pPr>
                      <a:r>
                        <a:rPr sz="1080" b="1" i="0">
                          <a:solidFill>
                            <a:srgbClr val="1A1A2E"/>
                          </a:solidFill>
                          <a:latin typeface="Calibri"/>
                        </a:rPr>
                        <a:t>10,000 FP32</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89.004 ms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92.664 ms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32.38 / 20.03</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50.66–125.43</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Baseline (1.00x)</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47472">
                <a:tc>
                  <a:txBody>
                    <a:bodyPr/>
                    <a:lstStyle/>
                    <a:p>
                      <a:pPr algn="l">
                        <a:spcBef>
                          <a:spcPts val="0"/>
                        </a:spcBef>
                        <a:spcAft>
                          <a:spcPts val="0"/>
                        </a:spcAft>
                      </a:pPr>
                      <a:r>
                        <a:rPr sz="1080" b="1" i="0">
                          <a:solidFill>
                            <a:srgbClr val="1A1A2E"/>
                          </a:solidFill>
                          <a:latin typeface="Calibri"/>
                        </a:rPr>
                        <a:t>10,000 FP16</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12.301 ms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11.541 ms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2.87 / 3.16</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7.21–22.23</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7.24x mean / 8.03x med</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bl>
          </a:graphicData>
        </a:graphic>
      </p:graphicFrame>
      <p:sp>
        <p:nvSpPr>
          <p:cNvPr id="9" name="Rounded Rectangle 8"/>
          <p:cNvSpPr/>
          <p:nvPr/>
        </p:nvSpPr>
        <p:spPr>
          <a:xfrm>
            <a:off x="6172200" y="4151376"/>
            <a:ext cx="5376672" cy="1993392"/>
          </a:xfrm>
          <a:prstGeom prst="roundRect">
            <a:avLst>
              <a:gd name="adj" fmla="val 4000"/>
            </a:avLst>
          </a:prstGeom>
          <a:solidFill>
            <a:srgbClr val="E6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373368" y="4297680"/>
            <a:ext cx="4974336" cy="1682496"/>
          </a:xfrm>
          <a:prstGeom prst="rect">
            <a:avLst/>
          </a:prstGeom>
          <a:noFill/>
        </p:spPr>
        <p:txBody>
          <a:bodyPr wrap="square" anchor="t" lIns="0" tIns="0" rIns="0" bIns="0">
            <a:spAutoFit/>
          </a:bodyPr>
          <a:lstStyle/>
          <a:p>
            <a:pPr>
              <a:spcAft>
                <a:spcPts val="400"/>
              </a:spcAft>
            </a:pPr>
            <a:r>
              <a:rPr sz="1400" b="1" i="0">
                <a:solidFill>
                  <a:srgbClr val="006D5B"/>
                </a:solidFill>
                <a:latin typeface="Calibri"/>
              </a:rPr>
              <a:t>Exact-Search Findings &amp; Causal Qualification</a:t>
            </a:r>
          </a:p>
          <a:p>
            <a:pPr marL="201168" indent="-201168">
              <a:spcAft>
                <a:spcPts val="300"/>
              </a:spcAft>
              <a:buFont typeface="Calibri"/>
              <a:buChar char="•"/>
            </a:pPr>
            <a:r>
              <a:rPr sz="1180" b="1" i="0">
                <a:solidFill>
                  <a:srgbClr val="1A1A2E"/>
                </a:solidFill>
                <a:latin typeface="Calibri"/>
              </a:rPr>
              <a:t>5k &amp; 10k Headline Speedups: </a:t>
            </a:r>
            <a:r>
              <a:rPr sz="1140" b="0" i="0">
                <a:solidFill>
                  <a:srgbClr val="1A1A2E"/>
                </a:solidFill>
                <a:latin typeface="Calibri"/>
              </a:rPr>
              <a:t>At 5,000 chunks: 6.22x lower mean (83.91% lower) and 7.12x lower median (85.96% lower). At 10,000 chunks: 7.24x lower mean (86.18% lower) and 8.03x lower median (87.55% lower). Faster on 100/100 trials.</a:t>
            </a:r>
          </a:p>
          <a:p>
            <a:pPr marL="201168" indent="-201168">
              <a:spcAft>
                <a:spcPts val="300"/>
              </a:spcAft>
              <a:buFont typeface="Calibri"/>
              <a:buChar char="•"/>
            </a:pPr>
            <a:r>
              <a:rPr sz="1180" b="1" i="0">
                <a:solidFill>
                  <a:srgbClr val="1A1A2E"/>
                </a:solidFill>
                <a:latin typeface="Calibri"/>
              </a:rPr>
              <a:t>Evidence &amp; Causality Discipline: </a:t>
            </a:r>
            <a:r>
              <a:rPr sz="1140" b="0" i="0">
                <a:solidFill>
                  <a:srgbClr val="1A1A2E"/>
                </a:solidFill>
                <a:latin typeface="Calibri"/>
              </a:rPr>
              <a:t>Timings reflect Stage 4 v2 client-side execution (cur.execute + fetchall, ORDER BY distance alias). Results are consistent with lower storage and page-access burden, without claiming Q0 alone proves causality.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9. RESULTS — STAGE 4 V2 FORCED-HNSW LATENCY</a:t>
            </a:r>
          </a:p>
          <a:p>
            <a:pPr algn="l">
              <a:spcAft>
                <a:spcPts val="300"/>
              </a:spcAft>
            </a:pPr>
            <a:r>
              <a:rPr sz="2700" b="1" i="0">
                <a:solidFill>
                  <a:srgbClr val="21295C"/>
                </a:solidFill>
                <a:latin typeface="Calibri"/>
              </a:rPr>
              <a:t>Forced-HNSW Latency Was Broadly Similar (~3.37–4.13 ms Mean)</a:t>
            </a:r>
          </a:p>
          <a:p>
            <a:pPr algn="l"/>
            <a:r>
              <a:rPr sz="1350" b="0" i="0">
                <a:solidFill>
                  <a:srgbClr val="5B6472"/>
                </a:solidFill>
                <a:latin typeface="Calibri"/>
              </a:rPr>
              <a:t>Plotted separately from exact search: FP16 was slightly faster at 5,000 chunks and slightly slower at 10,000 chunks</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10 / 16</a:t>
            </a:r>
          </a:p>
        </p:txBody>
      </p:sp>
      <p:graphicFrame>
        <p:nvGraphicFramePr>
          <p:cNvPr id="7" name="Chart 6"/>
          <p:cNvGraphicFramePr>
            <a:graphicFrameLocks noGrp="1"/>
          </p:cNvGraphicFramePr>
          <p:nvPr/>
        </p:nvGraphicFramePr>
        <p:xfrm>
          <a:off x="640080" y="2029968"/>
          <a:ext cx="5349240" cy="40690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6172200" y="2029968"/>
          <a:ext cx="5376672" cy="1737360"/>
        </p:xfrm>
        <a:graphic>
          <a:graphicData uri="http://schemas.openxmlformats.org/drawingml/2006/table">
            <a:tbl>
              <a:tblPr firstRow="1" bandRow="1">
                <a:tableStyleId>{5C22544A-7EE6-4342-B048-85BDC9FD1C3A}</a:tableStyleId>
              </a:tblPr>
              <a:tblGrid>
                <a:gridCol w="932688"/>
                <a:gridCol w="731520"/>
                <a:gridCol w="749808"/>
                <a:gridCol w="841248"/>
                <a:gridCol w="822960"/>
                <a:gridCol w="1298448"/>
              </a:tblGrid>
              <a:tr h="347472">
                <a:tc>
                  <a:txBody>
                    <a:bodyPr/>
                    <a:lstStyle/>
                    <a:p>
                      <a:pPr algn="l">
                        <a:spcBef>
                          <a:spcPts val="0"/>
                        </a:spcBef>
                        <a:spcAft>
                          <a:spcPts val="0"/>
                        </a:spcAft>
                      </a:pPr>
                      <a:r>
                        <a:rPr sz="1100" b="1" i="0">
                          <a:solidFill>
                            <a:srgbClr val="FFFFFF"/>
                          </a:solidFill>
                          <a:latin typeface="Calibri"/>
                        </a:rPr>
                        <a:t>Corpus &amp; Rep</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Mean</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Median</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IQR / StDev</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Min–Max</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Relative Diff vs. FP32</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r>
              <a:tr h="347472">
                <a:tc>
                  <a:txBody>
                    <a:bodyPr/>
                    <a:lstStyle/>
                    <a:p>
                      <a:pPr algn="l">
                        <a:spcBef>
                          <a:spcPts val="0"/>
                        </a:spcBef>
                        <a:spcAft>
                          <a:spcPts val="0"/>
                        </a:spcAft>
                      </a:pPr>
                      <a:r>
                        <a:rPr sz="1080" b="1" i="0">
                          <a:solidFill>
                            <a:srgbClr val="1A1A2E"/>
                          </a:solidFill>
                          <a:latin typeface="Calibri"/>
                        </a:rPr>
                        <a:t>5k FP32 HNSW</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4.129 ms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3.371 ms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1.64 / 4.07</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2.45–42.67</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Baseline (1.00x)</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47472">
                <a:tc>
                  <a:txBody>
                    <a:bodyPr/>
                    <a:lstStyle/>
                    <a:p>
                      <a:pPr algn="l">
                        <a:spcBef>
                          <a:spcPts val="0"/>
                        </a:spcBef>
                        <a:spcAft>
                          <a:spcPts val="0"/>
                        </a:spcAft>
                      </a:pPr>
                      <a:r>
                        <a:rPr sz="1080" b="1" i="0">
                          <a:solidFill>
                            <a:srgbClr val="1A1A2E"/>
                          </a:solidFill>
                          <a:latin typeface="Calibri"/>
                        </a:rPr>
                        <a:t>5k FP16 HNSW</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3.372 ms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2.923 ms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1.57 / 0.95</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2.39–6.50</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-18.32% mean / -13.28% med</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r h="347472">
                <a:tc>
                  <a:txBody>
                    <a:bodyPr/>
                    <a:lstStyle/>
                    <a:p>
                      <a:pPr algn="l">
                        <a:spcBef>
                          <a:spcPts val="0"/>
                        </a:spcBef>
                        <a:spcAft>
                          <a:spcPts val="0"/>
                        </a:spcAft>
                      </a:pPr>
                      <a:r>
                        <a:rPr sz="1080" b="1" i="0">
                          <a:solidFill>
                            <a:srgbClr val="1A1A2E"/>
                          </a:solidFill>
                          <a:latin typeface="Calibri"/>
                        </a:rPr>
                        <a:t>10k FP32 HNSW</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3.674 ms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3.415 ms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1.55 / 0.99</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2.42–6.42</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Baseline (1.00x)</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47472">
                <a:tc>
                  <a:txBody>
                    <a:bodyPr/>
                    <a:lstStyle/>
                    <a:p>
                      <a:pPr algn="l">
                        <a:spcBef>
                          <a:spcPts val="0"/>
                        </a:spcBef>
                        <a:spcAft>
                          <a:spcPts val="0"/>
                        </a:spcAft>
                      </a:pPr>
                      <a:r>
                        <a:rPr sz="1080" b="1" i="0">
                          <a:solidFill>
                            <a:srgbClr val="1A1A2E"/>
                          </a:solidFill>
                          <a:latin typeface="Calibri"/>
                        </a:rPr>
                        <a:t>10k FP16 HNSW</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3.856 ms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3.820 ms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1.80 / 1.09</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0" i="0">
                          <a:solidFill>
                            <a:srgbClr val="1A1A2E"/>
                          </a:solidFill>
                          <a:latin typeface="Calibri"/>
                        </a:rPr>
                        <a:t>2.48–7.74</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1A1A2E"/>
                          </a:solidFill>
                          <a:latin typeface="Calibri"/>
                        </a:rPr>
                        <a:t>+4.95% mean / +11.86%* med</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bl>
          </a:graphicData>
        </a:graphic>
      </p:graphicFrame>
      <p:sp>
        <p:nvSpPr>
          <p:cNvPr id="9" name="Rounded Rectangle 8"/>
          <p:cNvSpPr/>
          <p:nvPr/>
        </p:nvSpPr>
        <p:spPr>
          <a:xfrm>
            <a:off x="6172200" y="4114800"/>
            <a:ext cx="5376672" cy="202996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373368" y="4261104"/>
            <a:ext cx="4974336" cy="1737360"/>
          </a:xfrm>
          <a:prstGeom prst="rect">
            <a:avLst/>
          </a:prstGeom>
          <a:noFill/>
        </p:spPr>
        <p:txBody>
          <a:bodyPr wrap="square" anchor="t" lIns="0" tIns="0" rIns="0" bIns="0">
            <a:spAutoFit/>
          </a:bodyPr>
          <a:lstStyle/>
          <a:p>
            <a:pPr>
              <a:spcAft>
                <a:spcPts val="400"/>
              </a:spcAft>
            </a:pPr>
            <a:r>
              <a:rPr sz="1400" b="1" i="0">
                <a:solidFill>
                  <a:srgbClr val="21295C"/>
                </a:solidFill>
                <a:latin typeface="Calibri"/>
              </a:rPr>
              <a:t>Why Forced-HNSW Latency Is Broadly Similar</a:t>
            </a:r>
          </a:p>
          <a:p>
            <a:pPr marL="201168" indent="-201168">
              <a:spcAft>
                <a:spcPts val="250"/>
              </a:spcAft>
              <a:buFont typeface="Calibri"/>
              <a:buChar char="•"/>
            </a:pPr>
            <a:r>
              <a:rPr sz="1140" b="1" i="0">
                <a:solidFill>
                  <a:srgbClr val="065A82"/>
                </a:solidFill>
                <a:latin typeface="Calibri"/>
              </a:rPr>
              <a:t>No Universal HNSW Speedup Claimed: </a:t>
            </a:r>
            <a:r>
              <a:rPr sz="1100" b="0" i="0">
                <a:solidFill>
                  <a:srgbClr val="1A1A2E"/>
                </a:solidFill>
                <a:latin typeface="Calibri"/>
              </a:rPr>
              <a:t>FP16 HNSW was slightly faster at 5,000 chunks (3.372 vs. 4.129 ms mean) but slower at 10,000 chunks (3.856 vs. 3.674 ms mean; *11.86% higher median in CSV vs. 11.84% in prose).</a:t>
            </a:r>
          </a:p>
          <a:p>
            <a:pPr marL="201168" indent="-201168">
              <a:spcAft>
                <a:spcPts val="250"/>
              </a:spcAft>
              <a:buFont typeface="Calibri"/>
              <a:buChar char="•"/>
            </a:pPr>
            <a:r>
              <a:rPr sz="1140" b="1" i="0">
                <a:solidFill>
                  <a:srgbClr val="065A82"/>
                </a:solidFill>
                <a:latin typeface="Calibri"/>
              </a:rPr>
              <a:t>Warm-Cache Subgraph Traversal: </a:t>
            </a:r>
            <a:r>
              <a:rPr sz="1100" b="0" i="0">
                <a:solidFill>
                  <a:srgbClr val="1A1A2E"/>
                </a:solidFill>
                <a:latin typeface="Calibri"/>
              </a:rPr>
              <a:t>Q0 plans reported shared read = 0 (753–930 buffer hits), and standalone HNSW index sizes (38.89 vs. 19.45 MiB at 10k) fit within the 128 MB shared_buffers capacity—consistent with warm-cache behaviour without proving full residency on every trial or isolating causality.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10. RESULTS — RETRIEVAL FIDELITY (RECALL@K)</a:t>
            </a:r>
          </a:p>
          <a:p>
            <a:pPr algn="l">
              <a:spcAft>
                <a:spcPts val="300"/>
              </a:spcAft>
            </a:pPr>
            <a:r>
              <a:rPr sz="2700" b="1" i="0">
                <a:solidFill>
                  <a:srgbClr val="21295C"/>
                </a:solidFill>
                <a:latin typeface="Calibri"/>
              </a:rPr>
              <a:t>FP16 HNSW Retains 0.9600 Recall@10 on a Zero-Based 0.0–1.0 Axis</a:t>
            </a:r>
          </a:p>
          <a:p>
            <a:pPr algn="l"/>
            <a:r>
              <a:rPr sz="1350" b="0" i="0">
                <a:solidFill>
                  <a:srgbClr val="5B6472"/>
                </a:solidFill>
                <a:latin typeface="Calibri"/>
              </a:rPr>
              <a:t>Representation-specific top-K overlap against uncompressed FP32 exact sequential scan ground truth (chart3_hnsw_recall.csv)</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11 / 16</a:t>
            </a:r>
          </a:p>
        </p:txBody>
      </p:sp>
      <p:graphicFrame>
        <p:nvGraphicFramePr>
          <p:cNvPr id="7" name="Chart 6"/>
          <p:cNvGraphicFramePr>
            <a:graphicFrameLocks noGrp="1"/>
          </p:cNvGraphicFramePr>
          <p:nvPr/>
        </p:nvGraphicFramePr>
        <p:xfrm>
          <a:off x="594360" y="2029968"/>
          <a:ext cx="5715000" cy="40690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6446520" y="2029968"/>
          <a:ext cx="5102352" cy="1965960"/>
        </p:xfrm>
        <a:graphic>
          <a:graphicData uri="http://schemas.openxmlformats.org/drawingml/2006/table">
            <a:tbl>
              <a:tblPr firstRow="1" bandRow="1">
                <a:tableStyleId>{5C22544A-7EE6-4342-B048-85BDC9FD1C3A}</a:tableStyleId>
              </a:tblPr>
              <a:tblGrid>
                <a:gridCol w="1060704"/>
                <a:gridCol w="1517904"/>
                <a:gridCol w="841248"/>
                <a:gridCol w="841248"/>
                <a:gridCol w="841248"/>
              </a:tblGrid>
              <a:tr h="327660">
                <a:tc>
                  <a:txBody>
                    <a:bodyPr/>
                    <a:lstStyle/>
                    <a:p>
                      <a:pPr algn="l">
                        <a:spcBef>
                          <a:spcPts val="0"/>
                        </a:spcBef>
                        <a:spcAft>
                          <a:spcPts val="0"/>
                        </a:spcAft>
                      </a:pPr>
                      <a:r>
                        <a:rPr sz="1080" b="1" i="0">
                          <a:solidFill>
                            <a:srgbClr val="FFFFFF"/>
                          </a:solidFill>
                          <a:latin typeface="Calibri"/>
                        </a:rPr>
                        <a:t>Corpus Scale</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80" b="1" i="0">
                          <a:solidFill>
                            <a:srgbClr val="FFFFFF"/>
                          </a:solidFill>
                          <a:latin typeface="Calibri"/>
                        </a:rPr>
                        <a:t>Configuration</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FFFFFF"/>
                          </a:solidFill>
                          <a:latin typeface="Calibri"/>
                        </a:rPr>
                        <a:t>Recall@3</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FFFFFF"/>
                          </a:solidFill>
                          <a:latin typeface="Calibri"/>
                        </a:rPr>
                        <a:t>Recall@5</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80" b="1" i="0">
                          <a:solidFill>
                            <a:srgbClr val="FFFFFF"/>
                          </a:solidFill>
                          <a:latin typeface="Calibri"/>
                        </a:rPr>
                        <a:t>Recall@10</a:t>
                      </a:r>
                    </a:p>
                  </a:txBody>
                  <a:tcPr anchor="ctr" marT="15000" marB="15000" marL="32000" marR="32000">
                    <a:solidFill>
                      <a:srgbClr val="065A82"/>
                    </a:solidFill>
                    <a:lnT w="6350" cap="flat" cmpd="sng" algn="ctr">
                      <a:solidFill>
                        <a:srgbClr val="D0D7DE"/>
                      </a:solidFill>
                    </a:lnT>
                    <a:lnB w="6350" cap="flat" cmpd="sng" algn="ctr">
                      <a:solidFill>
                        <a:srgbClr val="D0D7DE"/>
                      </a:solidFill>
                    </a:lnB>
                    <a:lnL w="0">
                      <a:noFill/>
                    </a:lnL>
                    <a:lnR w="0">
                      <a:noFill/>
                    </a:lnR>
                  </a:tcPr>
                </a:tc>
              </a:tr>
              <a:tr h="327660">
                <a:tc>
                  <a:txBody>
                    <a:bodyPr/>
                    <a:lstStyle/>
                    <a:p>
                      <a:pPr algn="l">
                        <a:spcBef>
                          <a:spcPts val="0"/>
                        </a:spcBef>
                        <a:spcAft>
                          <a:spcPts val="0"/>
                        </a:spcAft>
                      </a:pPr>
                      <a:r>
                        <a:rPr sz="1060" b="1" i="0">
                          <a:solidFill>
                            <a:srgbClr val="1A1A2E"/>
                          </a:solidFill>
                          <a:latin typeface="Calibri"/>
                        </a:rPr>
                        <a:t>5,000 Chunks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FP32 HNSW (ef_s=40)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0.9167</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0.9100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0.9550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27660">
                <a:tc>
                  <a:txBody>
                    <a:bodyPr/>
                    <a:lstStyle/>
                    <a:p>
                      <a:pPr algn="l">
                        <a:spcBef>
                          <a:spcPts val="0"/>
                        </a:spcBef>
                        <a:spcAft>
                          <a:spcPts val="0"/>
                        </a:spcAft>
                      </a:pPr>
                      <a:r>
                        <a:rPr sz="1060" b="1" i="0">
                          <a:solidFill>
                            <a:srgbClr val="1A1A2E"/>
                          </a:solidFill>
                          <a:latin typeface="Calibri"/>
                        </a:rPr>
                        <a:t>5,000 Chunks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FP16 HNSW (ef_s=40)</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0.9167</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0.9100</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0.9600</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r h="327660">
                <a:tc>
                  <a:txBody>
                    <a:bodyPr/>
                    <a:lstStyle/>
                    <a:p>
                      <a:pPr algn="l">
                        <a:spcBef>
                          <a:spcPts val="0"/>
                        </a:spcBef>
                        <a:spcAft>
                          <a:spcPts val="0"/>
                        </a:spcAft>
                      </a:pPr>
                      <a:r>
                        <a:rPr sz="1060" b="1" i="0">
                          <a:solidFill>
                            <a:srgbClr val="1A1A2E"/>
                          </a:solidFill>
                          <a:latin typeface="Calibri"/>
                        </a:rPr>
                        <a:t>10,000 Chunks</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FP32 HNSW (ef_s=40)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0.9667</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0.9500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0.9450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r h="327660">
                <a:tc>
                  <a:txBody>
                    <a:bodyPr/>
                    <a:lstStyle/>
                    <a:p>
                      <a:pPr algn="l">
                        <a:spcBef>
                          <a:spcPts val="0"/>
                        </a:spcBef>
                        <a:spcAft>
                          <a:spcPts val="0"/>
                        </a:spcAft>
                      </a:pPr>
                      <a:r>
                        <a:rPr sz="1060" b="1" i="0">
                          <a:solidFill>
                            <a:srgbClr val="1A1A2E"/>
                          </a:solidFill>
                          <a:latin typeface="Calibri"/>
                        </a:rPr>
                        <a:t>10,000 Chunks</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FP16 HNSW (ef_s=40)</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0.9500</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0.9400</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0.9600</a:t>
                      </a:r>
                    </a:p>
                  </a:txBody>
                  <a:tcPr anchor="ctr" marT="15000" marB="15000" marL="32000" marR="32000">
                    <a:solidFill>
                      <a:srgbClr val="F4F7F9"/>
                    </a:solidFill>
                    <a:lnT w="6350" cap="flat" cmpd="sng" algn="ctr">
                      <a:solidFill>
                        <a:srgbClr val="D0D7DE"/>
                      </a:solidFill>
                    </a:lnT>
                    <a:lnB w="6350" cap="flat" cmpd="sng" algn="ctr">
                      <a:solidFill>
                        <a:srgbClr val="D0D7DE"/>
                      </a:solidFill>
                    </a:lnB>
                    <a:lnL w="0">
                      <a:noFill/>
                    </a:lnL>
                    <a:lnR w="0">
                      <a:noFill/>
                    </a:lnR>
                  </a:tcPr>
                </a:tc>
              </a:tr>
              <a:tr h="327660">
                <a:tc>
                  <a:txBody>
                    <a:bodyPr/>
                    <a:lstStyle/>
                    <a:p>
                      <a:pPr algn="l">
                        <a:spcBef>
                          <a:spcPts val="0"/>
                        </a:spcBef>
                        <a:spcAft>
                          <a:spcPts val="0"/>
                        </a:spcAft>
                      </a:pPr>
                      <a:r>
                        <a:rPr sz="1060" b="1" i="0">
                          <a:solidFill>
                            <a:srgbClr val="1A1A2E"/>
                          </a:solidFill>
                          <a:latin typeface="Calibri"/>
                        </a:rPr>
                        <a:t>Stage 2 / 3 (1k)</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FP16 Exact / Both HNSW</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0.9833* / 1.0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1.0000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1.0000</a:t>
                      </a:r>
                    </a:p>
                  </a:txBody>
                  <a:tcPr anchor="ctr" marT="15000" marB="15000" marL="32000" marR="32000">
                    <a:solidFill>
                      <a:srgbClr val="FFFFFF"/>
                    </a:solidFill>
                    <a:lnT w="6350" cap="flat" cmpd="sng" algn="ctr">
                      <a:solidFill>
                        <a:srgbClr val="D0D7DE"/>
                      </a:solidFill>
                    </a:lnT>
                    <a:lnB w="6350" cap="flat" cmpd="sng" algn="ctr">
                      <a:solidFill>
                        <a:srgbClr val="D0D7DE"/>
                      </a:solidFill>
                    </a:lnB>
                    <a:lnL w="0">
                      <a:noFill/>
                    </a:lnL>
                    <a:lnR w="0">
                      <a:noFill/>
                    </a:lnR>
                  </a:tcPr>
                </a:tc>
              </a:tr>
            </a:tbl>
          </a:graphicData>
        </a:graphic>
      </p:graphicFrame>
      <p:sp>
        <p:nvSpPr>
          <p:cNvPr id="9" name="Rounded Rectangle 8"/>
          <p:cNvSpPr/>
          <p:nvPr/>
        </p:nvSpPr>
        <p:spPr>
          <a:xfrm>
            <a:off x="6446520" y="4251960"/>
            <a:ext cx="5102352" cy="1874519"/>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629400" y="4389120"/>
            <a:ext cx="4736592" cy="1600200"/>
          </a:xfrm>
          <a:prstGeom prst="rect">
            <a:avLst/>
          </a:prstGeom>
          <a:noFill/>
        </p:spPr>
        <p:txBody>
          <a:bodyPr wrap="square" anchor="t" lIns="0" tIns="0" rIns="0" bIns="0">
            <a:spAutoFit/>
          </a:bodyPr>
          <a:lstStyle/>
          <a:p>
            <a:pPr>
              <a:spcAft>
                <a:spcPts val="400"/>
              </a:spcAft>
            </a:pPr>
            <a:r>
              <a:rPr sz="1380" b="1" i="0">
                <a:solidFill>
                  <a:srgbClr val="21295C"/>
                </a:solidFill>
                <a:latin typeface="Calibri"/>
              </a:rPr>
              <a:t>Set-Overlap Formula &amp; Non-Monotonicity Across K</a:t>
            </a:r>
          </a:p>
          <a:p>
            <a:pPr marL="201168" indent="-201168">
              <a:spcAft>
                <a:spcPts val="300"/>
              </a:spcAft>
              <a:buFont typeface="Calibri"/>
              <a:buChar char="•"/>
            </a:pPr>
            <a:r>
              <a:rPr sz="1140" b="1" i="0">
                <a:solidFill>
                  <a:srgbClr val="065A82"/>
                </a:solidFill>
                <a:latin typeface="Calibri"/>
              </a:rPr>
              <a:t>Moving Denominator K: </a:t>
            </a:r>
            <a:r>
              <a:rPr sz="1100" b="0" i="0">
                <a:solidFill>
                  <a:srgbClr val="1A1A2E"/>
                </a:solidFill>
                <a:latin typeface="Calibri"/>
              </a:rPr>
              <a:t>Recall@K = mean(|Top-K_FP32_Exact(q) ∩ Top-K_Cand(q)| / K) across 20 queries via separate LIMIT K queries; values need not increase monotonically (e.g., 10k FP32: 0.9667 -&gt; 0.9500 -&gt; 0.9450).</a:t>
            </a:r>
          </a:p>
          <a:p>
            <a:pPr marL="201168" indent="-201168">
              <a:spcAft>
                <a:spcPts val="300"/>
              </a:spcAft>
              <a:buFont typeface="Calibri"/>
              <a:buChar char="•"/>
            </a:pPr>
            <a:r>
              <a:rPr sz="1140" b="1" i="0">
                <a:solidFill>
                  <a:srgbClr val="065A82"/>
                </a:solidFill>
                <a:latin typeface="Calibri"/>
              </a:rPr>
              <a:t>Stage 2 Recall@3 = 0.9833 (*): </a:t>
            </a:r>
            <a:r>
              <a:rPr sz="1100" b="0" i="0">
                <a:solidFill>
                  <a:srgbClr val="1A1A2E"/>
                </a:solidFill>
                <a:latin typeface="Calibri"/>
              </a:rPr>
              <a:t>Corresponds to 59/60 matching top-3 IDs at 1,001 chunks; aggregate overlap does not establish the underlying cause or rank order.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11. RESULTS — PAIRWISE AGREEMENT &amp; Q0 BUFFER DIAGNOSTICS</a:t>
            </a:r>
          </a:p>
          <a:p>
            <a:pPr algn="l">
              <a:spcAft>
                <a:spcPts val="300"/>
              </a:spcAft>
            </a:pPr>
            <a:r>
              <a:rPr sz="2700" b="1" i="0">
                <a:solidFill>
                  <a:srgbClr val="21295C"/>
                </a:solidFill>
                <a:latin typeface="Calibri"/>
              </a:rPr>
              <a:t>Pairwise Agreement@10 and Q0 Buffer Diagnostics</a:t>
            </a:r>
          </a:p>
          <a:p>
            <a:pPr algn="l"/>
            <a:r>
              <a:rPr sz="1350" b="0" i="0">
                <a:solidFill>
                  <a:srgbClr val="5B6472"/>
                </a:solidFill>
                <a:latin typeface="Calibri"/>
              </a:rPr>
              <a:t>Pairwise HNSW overlap (chart3_pairwise_agreement.csv) and single-query EXPLAIN (ANALYZE, BUFFERS) diagnostic plans</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12 / 16</a:t>
            </a:r>
          </a:p>
        </p:txBody>
      </p:sp>
      <p:graphicFrame>
        <p:nvGraphicFramePr>
          <p:cNvPr id="7" name="Chart 6"/>
          <p:cNvGraphicFramePr>
            <a:graphicFrameLocks noGrp="1"/>
          </p:cNvGraphicFramePr>
          <p:nvPr/>
        </p:nvGraphicFramePr>
        <p:xfrm>
          <a:off x="594360" y="2029968"/>
          <a:ext cx="4663440" cy="40690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5349240" y="1993392"/>
          <a:ext cx="6217920" cy="2331720"/>
        </p:xfrm>
        <a:graphic>
          <a:graphicData uri="http://schemas.openxmlformats.org/drawingml/2006/table">
            <a:tbl>
              <a:tblPr firstRow="1" bandRow="1">
                <a:tableStyleId>{5C22544A-7EE6-4342-B048-85BDC9FD1C3A}</a:tableStyleId>
              </a:tblPr>
              <a:tblGrid>
                <a:gridCol w="1609344"/>
                <a:gridCol w="731520"/>
                <a:gridCol w="713232"/>
                <a:gridCol w="1005840"/>
                <a:gridCol w="2157984"/>
              </a:tblGrid>
              <a:tr h="333102">
                <a:tc>
                  <a:txBody>
                    <a:bodyPr/>
                    <a:lstStyle/>
                    <a:p>
                      <a:pPr algn="l">
                        <a:spcBef>
                          <a:spcPts val="0"/>
                        </a:spcBef>
                        <a:spcAft>
                          <a:spcPts val="0"/>
                        </a:spcAft>
                      </a:pPr>
                      <a:r>
                        <a:rPr sz="1060" b="1" i="0">
                          <a:solidFill>
                            <a:srgbClr val="FFFFFF"/>
                          </a:solidFill>
                          <a:latin typeface="Calibri"/>
                        </a:rPr>
                        <a:t>Scale &amp; Mode</a:t>
                      </a:r>
                    </a:p>
                  </a:txBody>
                  <a:tcPr anchor="ctr" marT="8000" marB="8000" marL="18000" marR="18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FFFFFF"/>
                          </a:solidFill>
                          <a:latin typeface="Calibri"/>
                        </a:rPr>
                        <a:t>FP32 Hits</a:t>
                      </a:r>
                    </a:p>
                  </a:txBody>
                  <a:tcPr anchor="ctr" marT="8000" marB="8000" marL="18000" marR="18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FFFFFF"/>
                          </a:solidFill>
                          <a:latin typeface="Calibri"/>
                        </a:rPr>
                        <a:t>FP16 Hits</a:t>
                      </a:r>
                    </a:p>
                  </a:txBody>
                  <a:tcPr anchor="ctr" marT="8000" marB="8000" marL="18000" marR="18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FFFFFF"/>
                          </a:solidFill>
                          <a:latin typeface="Calibri"/>
                        </a:rPr>
                        <a:t>Server Exec</a:t>
                      </a:r>
                    </a:p>
                  </a:txBody>
                  <a:tcPr anchor="ctr" marT="8000" marB="8000" marL="18000" marR="18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FFFFFF"/>
                          </a:solidFill>
                          <a:latin typeface="Calibri"/>
                        </a:rPr>
                        <a:t>Buffer Hit Reduction</a:t>
                      </a:r>
                    </a:p>
                  </a:txBody>
                  <a:tcPr anchor="ctr" marT="8000" marB="8000" marL="18000" marR="18000">
                    <a:solidFill>
                      <a:srgbClr val="065A82"/>
                    </a:solidFill>
                    <a:lnT w="6350" cap="flat" cmpd="sng" algn="ctr">
                      <a:solidFill>
                        <a:srgbClr val="D0D7DE"/>
                      </a:solidFill>
                    </a:lnT>
                    <a:lnB w="6350" cap="flat" cmpd="sng" algn="ctr">
                      <a:solidFill>
                        <a:srgbClr val="D0D7DE"/>
                      </a:solidFill>
                    </a:lnB>
                    <a:lnL w="0">
                      <a:noFill/>
                    </a:lnL>
                    <a:lnR w="0">
                      <a:noFill/>
                    </a:lnR>
                  </a:tcPr>
                </a:tc>
              </a:tr>
              <a:tr h="333102">
                <a:tc>
                  <a:txBody>
                    <a:bodyPr/>
                    <a:lstStyle/>
                    <a:p>
                      <a:pPr algn="l">
                        <a:spcBef>
                          <a:spcPts val="0"/>
                        </a:spcBef>
                        <a:spcAft>
                          <a:spcPts val="0"/>
                        </a:spcAft>
                      </a:pPr>
                      <a:r>
                        <a:rPr sz="1019" b="1" i="0">
                          <a:solidFill>
                            <a:srgbClr val="1A1A2E"/>
                          </a:solidFill>
                          <a:latin typeface="Calibri"/>
                        </a:rPr>
                        <a:t>1k Exact Search (Stage 2/3 plan sample)</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3,010 hits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201 hits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1.801 -&gt; 0.404 ms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1" i="0">
                          <a:solidFill>
                            <a:srgbClr val="1A1A2E"/>
                          </a:solidFill>
                          <a:latin typeface="Calibri"/>
                        </a:rPr>
                        <a:t>93.32% fewer buffer hits (14.98× ratio)</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r>
              <a:tr h="333102">
                <a:tc>
                  <a:txBody>
                    <a:bodyPr/>
                    <a:lstStyle/>
                    <a:p>
                      <a:pPr algn="l">
                        <a:spcBef>
                          <a:spcPts val="0"/>
                        </a:spcBef>
                        <a:spcAft>
                          <a:spcPts val="0"/>
                        </a:spcAft>
                      </a:pPr>
                      <a:r>
                        <a:rPr sz="1019" b="1" i="0">
                          <a:solidFill>
                            <a:srgbClr val="1A1A2E"/>
                          </a:solidFill>
                          <a:latin typeface="Calibri"/>
                        </a:rPr>
                        <a:t>1k Forced HNSW (Stage 2/3 plan sample)</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595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514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1.267 -&gt; 0.886 ms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13.61% fewer buffer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r>
              <a:tr h="333102">
                <a:tc>
                  <a:txBody>
                    <a:bodyPr/>
                    <a:lstStyle/>
                    <a:p>
                      <a:pPr algn="l">
                        <a:spcBef>
                          <a:spcPts val="0"/>
                        </a:spcBef>
                        <a:spcAft>
                          <a:spcPts val="0"/>
                        </a:spcAft>
                      </a:pPr>
                      <a:r>
                        <a:rPr sz="1019" b="1" i="0">
                          <a:solidFill>
                            <a:srgbClr val="1A1A2E"/>
                          </a:solidFill>
                          <a:latin typeface="Calibri"/>
                        </a:rPr>
                        <a:t>5k Exact Search</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1" i="0">
                          <a:solidFill>
                            <a:srgbClr val="1A1A2E"/>
                          </a:solidFill>
                          <a:latin typeface="Calibri"/>
                        </a:rPr>
                        <a:t>15,032 hits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1" i="0">
                          <a:solidFill>
                            <a:srgbClr val="1A1A2E"/>
                          </a:solidFill>
                          <a:latin typeface="Calibri"/>
                        </a:rPr>
                        <a:t>1,000 hits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24.540 -&gt; 2.995 ms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1" i="0">
                          <a:solidFill>
                            <a:srgbClr val="1A1A2E"/>
                          </a:solidFill>
                          <a:latin typeface="Calibri"/>
                        </a:rPr>
                        <a:t>93.35% fewer buffer hits (15.03× ratio)</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r>
              <a:tr h="333102">
                <a:tc>
                  <a:txBody>
                    <a:bodyPr/>
                    <a:lstStyle/>
                    <a:p>
                      <a:pPr algn="l">
                        <a:spcBef>
                          <a:spcPts val="0"/>
                        </a:spcBef>
                        <a:spcAft>
                          <a:spcPts val="0"/>
                        </a:spcAft>
                      </a:pPr>
                      <a:r>
                        <a:rPr sz="1019" b="1" i="0">
                          <a:solidFill>
                            <a:srgbClr val="1A1A2E"/>
                          </a:solidFill>
                          <a:latin typeface="Calibri"/>
                        </a:rPr>
                        <a:t>5k Forced HNSW</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830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753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0.571 -&gt; 0.405 ms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9.28% fewer buffer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r>
              <a:tr h="333102">
                <a:tc>
                  <a:txBody>
                    <a:bodyPr/>
                    <a:lstStyle/>
                    <a:p>
                      <a:pPr algn="l">
                        <a:spcBef>
                          <a:spcPts val="0"/>
                        </a:spcBef>
                        <a:spcAft>
                          <a:spcPts val="0"/>
                        </a:spcAft>
                      </a:pPr>
                      <a:r>
                        <a:rPr sz="1019" b="1" i="0">
                          <a:solidFill>
                            <a:srgbClr val="1A1A2E"/>
                          </a:solidFill>
                          <a:latin typeface="Calibri"/>
                        </a:rPr>
                        <a:t>10k Exact Search</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1" i="0">
                          <a:solidFill>
                            <a:srgbClr val="1A1A2E"/>
                          </a:solidFill>
                          <a:latin typeface="Calibri"/>
                        </a:rPr>
                        <a:t>30,064 hits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1" i="0">
                          <a:solidFill>
                            <a:srgbClr val="1A1A2E"/>
                          </a:solidFill>
                          <a:latin typeface="Calibri"/>
                        </a:rPr>
                        <a:t>2,000 hits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54.487 -&gt; 7.810 ms</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1" i="0">
                          <a:solidFill>
                            <a:srgbClr val="1A1A2E"/>
                          </a:solidFill>
                          <a:latin typeface="Calibri"/>
                        </a:rPr>
                        <a:t>93.35% fewer buffer hits (15.03× ratio)</a:t>
                      </a:r>
                    </a:p>
                  </a:txBody>
                  <a:tcPr anchor="ctr" marT="8000" marB="8000" marL="18000" marR="18000">
                    <a:solidFill>
                      <a:srgbClr val="FFFFFF"/>
                    </a:solidFill>
                    <a:lnT w="6350" cap="flat" cmpd="sng" algn="ctr">
                      <a:solidFill>
                        <a:srgbClr val="D0D7DE"/>
                      </a:solidFill>
                    </a:lnT>
                    <a:lnB w="6350" cap="flat" cmpd="sng" algn="ctr">
                      <a:solidFill>
                        <a:srgbClr val="D0D7DE"/>
                      </a:solidFill>
                    </a:lnB>
                    <a:lnL w="0">
                      <a:noFill/>
                    </a:lnL>
                    <a:lnR w="0">
                      <a:noFill/>
                    </a:lnR>
                  </a:tcPr>
                </a:tc>
              </a:tr>
              <a:tr h="333108">
                <a:tc>
                  <a:txBody>
                    <a:bodyPr/>
                    <a:lstStyle/>
                    <a:p>
                      <a:pPr algn="l">
                        <a:spcBef>
                          <a:spcPts val="0"/>
                        </a:spcBef>
                        <a:spcAft>
                          <a:spcPts val="0"/>
                        </a:spcAft>
                      </a:pPr>
                      <a:r>
                        <a:rPr sz="1019" b="1" i="0">
                          <a:solidFill>
                            <a:srgbClr val="1A1A2E"/>
                          </a:solidFill>
                          <a:latin typeface="Calibri"/>
                        </a:rPr>
                        <a:t>10k Forced HNSW</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930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847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0.624 -&gt; 0.503 ms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19" b="0" i="0">
                          <a:solidFill>
                            <a:srgbClr val="1A1A2E"/>
                          </a:solidFill>
                          <a:latin typeface="Calibri"/>
                        </a:rPr>
                        <a:t>8.92% fewer buffer hits</a:t>
                      </a:r>
                    </a:p>
                  </a:txBody>
                  <a:tcPr anchor="ctr" marT="8000" marB="8000" marL="18000" marR="18000">
                    <a:solidFill>
                      <a:srgbClr val="F4F7F9"/>
                    </a:solidFill>
                    <a:lnT w="6350" cap="flat" cmpd="sng" algn="ctr">
                      <a:solidFill>
                        <a:srgbClr val="D0D7DE"/>
                      </a:solidFill>
                    </a:lnT>
                    <a:lnB w="6350" cap="flat" cmpd="sng" algn="ctr">
                      <a:solidFill>
                        <a:srgbClr val="D0D7DE"/>
                      </a:solidFill>
                    </a:lnB>
                    <a:lnL w="0">
                      <a:noFill/>
                    </a:lnL>
                    <a:lnR w="0">
                      <a:noFill/>
                    </a:lnR>
                  </a:tcPr>
                </a:tc>
              </a:tr>
            </a:tbl>
          </a:graphicData>
        </a:graphic>
      </p:graphicFrame>
      <p:sp>
        <p:nvSpPr>
          <p:cNvPr id="9" name="Rounded Rectangle 8"/>
          <p:cNvSpPr/>
          <p:nvPr/>
        </p:nvSpPr>
        <p:spPr>
          <a:xfrm>
            <a:off x="5349240" y="4718304"/>
            <a:ext cx="6217920" cy="1426464"/>
          </a:xfrm>
          <a:prstGeom prst="roundRect">
            <a:avLst>
              <a:gd name="adj" fmla="val 4000"/>
            </a:avLst>
          </a:prstGeom>
          <a:solidFill>
            <a:srgbClr val="E8F1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532120" y="4809744"/>
            <a:ext cx="5852160" cy="1243584"/>
          </a:xfrm>
          <a:prstGeom prst="rect">
            <a:avLst/>
          </a:prstGeom>
          <a:noFill/>
        </p:spPr>
        <p:txBody>
          <a:bodyPr wrap="square" anchor="t" lIns="0" tIns="0" rIns="0" bIns="0">
            <a:spAutoFit/>
          </a:bodyPr>
          <a:lstStyle/>
          <a:p>
            <a:pPr>
              <a:spcAft>
                <a:spcPts val="200"/>
              </a:spcAft>
            </a:pPr>
            <a:r>
              <a:rPr sz="1320" b="1" i="0">
                <a:solidFill>
                  <a:srgbClr val="21295C"/>
                </a:solidFill>
                <a:latin typeface="Calibri"/>
              </a:rPr>
              <a:t>Metric Separation &amp; Diagnostic Provenance</a:t>
            </a:r>
          </a:p>
          <a:p>
            <a:pPr marL="201168" indent="-201168">
              <a:spcAft>
                <a:spcPts val="200"/>
              </a:spcAft>
              <a:buFont typeface="Calibri"/>
              <a:buChar char="•"/>
            </a:pPr>
            <a:r>
              <a:rPr sz="1100" b="1" i="0">
                <a:solidFill>
                  <a:srgbClr val="065A82"/>
                </a:solidFill>
                <a:latin typeface="Calibri"/>
              </a:rPr>
              <a:t>Agreement@K (Left Chart): </a:t>
            </a:r>
            <a:r>
              <a:rPr sz="1060" b="0" i="0">
                <a:solidFill>
                  <a:srgbClr val="1A1A2E"/>
                </a:solidFill>
                <a:latin typeface="Calibri"/>
              </a:rPr>
              <a:t>Mean top-K candidate overlap |S_FP32(q) ∩ S_FP16(q)| / K across 20 queries (1.0000 at 1k; 0.9850 at 5k K=10; 0.9500 at 10k K=10)—distinct from Jaccard, qrels, and buffer diagnostics.</a:t>
            </a:r>
          </a:p>
          <a:p>
            <a:pPr marL="201168" indent="-201168">
              <a:spcAft>
                <a:spcPts val="200"/>
              </a:spcAft>
              <a:buFont typeface="Calibri"/>
              <a:buChar char="•"/>
            </a:pPr>
            <a:r>
              <a:rPr sz="1100" b="1" i="0">
                <a:solidFill>
                  <a:srgbClr val="065A82"/>
                </a:solidFill>
                <a:latin typeface="Calibri"/>
              </a:rPr>
              <a:t>Diagnostic Provenance (Right Table): </a:t>
            </a:r>
            <a:r>
              <a:rPr sz="1060" b="0" i="0">
                <a:solidFill>
                  <a:srgbClr val="1A1A2E"/>
                </a:solidFill>
                <a:latin typeface="Calibri"/>
              </a:rPr>
              <a:t>The 1k rows come from Stage 2/3 report samples, while 5k/10k Q0 diagnostic rows come from chart2_q0_diagnostics.csv; available evidence does not establish that the 1k samples are Q0.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12. RESULTS — POSTGRESQL QUERY PLANNER BEHAVIOUR</a:t>
            </a:r>
          </a:p>
          <a:p>
            <a:pPr algn="l">
              <a:spcAft>
                <a:spcPts val="300"/>
              </a:spcAft>
            </a:pPr>
            <a:r>
              <a:rPr sz="2700" b="1" i="0">
                <a:solidFill>
                  <a:srgbClr val="21295C"/>
                </a:solidFill>
                <a:latin typeface="Calibri"/>
              </a:rPr>
              <a:t>Representation-Specific Planner Transition (1,001 to 5,000 Chunks)</a:t>
            </a:r>
          </a:p>
          <a:p>
            <a:pPr algn="l"/>
            <a:r>
              <a:rPr sz="1350" b="0" i="0">
                <a:solidFill>
                  <a:srgbClr val="5B6472"/>
                </a:solidFill>
                <a:latin typeface="Calibri"/>
              </a:rPr>
              <a:t>Why PostgreSQL selected Seq Scan for inline FP16 at 1,001 chunks before transitioning to HNSW Index Scan by 5,000 chunks</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13 / 16</a:t>
            </a:r>
          </a:p>
        </p:txBody>
      </p:sp>
      <p:graphicFrame>
        <p:nvGraphicFramePr>
          <p:cNvPr id="7" name="Chart 6"/>
          <p:cNvGraphicFramePr>
            <a:graphicFrameLocks noGrp="1"/>
          </p:cNvGraphicFramePr>
          <p:nvPr/>
        </p:nvGraphicFramePr>
        <p:xfrm>
          <a:off x="640080" y="2029968"/>
          <a:ext cx="5166360" cy="40690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5989320" y="2029968"/>
          <a:ext cx="5559552" cy="2103120"/>
        </p:xfrm>
        <a:graphic>
          <a:graphicData uri="http://schemas.openxmlformats.org/drawingml/2006/table">
            <a:tbl>
              <a:tblPr firstRow="1" bandRow="1">
                <a:tableStyleId>{5C22544A-7EE6-4342-B048-85BDC9FD1C3A}</a:tableStyleId>
              </a:tblPr>
              <a:tblGrid>
                <a:gridCol w="1051560"/>
                <a:gridCol w="1051560"/>
                <a:gridCol w="749808"/>
                <a:gridCol w="1353312"/>
                <a:gridCol w="1353312"/>
              </a:tblGrid>
              <a:tr h="300445">
                <a:tc>
                  <a:txBody>
                    <a:bodyPr/>
                    <a:lstStyle/>
                    <a:p>
                      <a:pPr algn="l">
                        <a:spcBef>
                          <a:spcPts val="0"/>
                        </a:spcBef>
                        <a:spcAft>
                          <a:spcPts val="0"/>
                        </a:spcAft>
                      </a:pPr>
                      <a:r>
                        <a:rPr sz="1100" b="1" i="0">
                          <a:solidFill>
                            <a:srgbClr val="FFFFFF"/>
                          </a:solidFill>
                          <a:latin typeface="Calibri"/>
                        </a:rPr>
                        <a:t>Corpus Scale</a:t>
                      </a:r>
                    </a:p>
                  </a:txBody>
                  <a:tcPr anchor="ctr" marT="14000" marB="14000" marL="28000" marR="28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100" b="1" i="0">
                          <a:solidFill>
                            <a:srgbClr val="FFFFFF"/>
                          </a:solidFill>
                          <a:latin typeface="Calibri"/>
                        </a:rPr>
                        <a:t>Vector Type</a:t>
                      </a:r>
                    </a:p>
                  </a:txBody>
                  <a:tcPr anchor="ctr" marT="14000" marB="14000" marL="28000" marR="28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Heap Blks</a:t>
                      </a:r>
                    </a:p>
                  </a:txBody>
                  <a:tcPr anchor="ctr" marT="14000" marB="14000" marL="28000" marR="28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Seq vs. HNSW Cost</a:t>
                      </a:r>
                    </a:p>
                  </a:txBody>
                  <a:tcPr anchor="ctr" marT="14000" marB="14000" marL="28000" marR="28000">
                    <a:solidFill>
                      <a:srgbClr val="065A82"/>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100" b="1" i="0">
                          <a:solidFill>
                            <a:srgbClr val="FFFFFF"/>
                          </a:solidFill>
                          <a:latin typeface="Calibri"/>
                        </a:rPr>
                        <a:t>Planner Path (Auto)</a:t>
                      </a:r>
                    </a:p>
                  </a:txBody>
                  <a:tcPr anchor="ctr" marT="14000" marB="14000" marL="28000" marR="28000">
                    <a:solidFill>
                      <a:srgbClr val="065A82"/>
                    </a:solidFill>
                    <a:lnT w="6350" cap="flat" cmpd="sng" algn="ctr">
                      <a:solidFill>
                        <a:srgbClr val="D0D7DE"/>
                      </a:solidFill>
                    </a:lnT>
                    <a:lnB w="6350" cap="flat" cmpd="sng" algn="ctr">
                      <a:solidFill>
                        <a:srgbClr val="D0D7DE"/>
                      </a:solidFill>
                    </a:lnB>
                    <a:lnL w="0">
                      <a:noFill/>
                    </a:lnL>
                    <a:lnR w="0">
                      <a:noFill/>
                    </a:lnR>
                  </a:tcPr>
                </a:tc>
              </a:tr>
              <a:tr h="300445">
                <a:tc>
                  <a:txBody>
                    <a:bodyPr/>
                    <a:lstStyle/>
                    <a:p>
                      <a:pPr algn="l">
                        <a:spcBef>
                          <a:spcPts val="0"/>
                        </a:spcBef>
                        <a:spcAft>
                          <a:spcPts val="0"/>
                        </a:spcAft>
                      </a:pPr>
                      <a:r>
                        <a:rPr sz="1060" b="1" i="0">
                          <a:solidFill>
                            <a:srgbClr val="1A1A2E"/>
                          </a:solidFill>
                          <a:latin typeface="Calibri"/>
                        </a:rPr>
                        <a:t>180c (R2 Base)</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FP32 (Monolithic)</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&lt; 75 blks</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10.58 vs. 365.79</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Seq Scan</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r>
              <a:tr h="300445">
                <a:tc>
                  <a:txBody>
                    <a:bodyPr/>
                    <a:lstStyle/>
                    <a:p>
                      <a:pPr algn="l">
                        <a:spcBef>
                          <a:spcPts val="0"/>
                        </a:spcBef>
                        <a:spcAft>
                          <a:spcPts val="0"/>
                        </a:spcAft>
                      </a:pPr>
                      <a:r>
                        <a:rPr sz="1060" b="1" i="0">
                          <a:solidFill>
                            <a:srgbClr val="1A1A2E"/>
                          </a:solidFill>
                          <a:latin typeface="Calibri"/>
                        </a:rPr>
                        <a:t>1,001c (Stage 3)</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FP32 (vector)</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7 blks</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41.17 vs. n/r*</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Index Scan (HNSW)</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r>
              <a:tr h="300445">
                <a:tc>
                  <a:txBody>
                    <a:bodyPr/>
                    <a:lstStyle/>
                    <a:p>
                      <a:pPr algn="l">
                        <a:spcBef>
                          <a:spcPts val="0"/>
                        </a:spcBef>
                        <a:spcAft>
                          <a:spcPts val="0"/>
                        </a:spcAft>
                      </a:pPr>
                      <a:r>
                        <a:rPr sz="1060" b="1" i="0">
                          <a:solidFill>
                            <a:srgbClr val="1A1A2E"/>
                          </a:solidFill>
                          <a:latin typeface="Calibri"/>
                        </a:rPr>
                        <a:t>1,001c (Stage 3)</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FP16 (halfvec)</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201 blks</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235.17 vs. n/r*</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Seq Scan (Heap)</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r>
              <a:tr h="300445">
                <a:tc>
                  <a:txBody>
                    <a:bodyPr/>
                    <a:lstStyle/>
                    <a:p>
                      <a:pPr algn="l">
                        <a:spcBef>
                          <a:spcPts val="0"/>
                        </a:spcBef>
                        <a:spcAft>
                          <a:spcPts val="0"/>
                        </a:spcAft>
                      </a:pPr>
                      <a:r>
                        <a:rPr sz="1060" b="1" i="0">
                          <a:solidFill>
                            <a:srgbClr val="1A1A2E"/>
                          </a:solidFill>
                          <a:latin typeface="Calibri"/>
                        </a:rPr>
                        <a:t>5,000c (Stage 4)</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FP32 (vector)</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32 blks</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202.57 vs. 56.17</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Index Scan (HNSW)</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r>
              <a:tr h="300445">
                <a:tc>
                  <a:txBody>
                    <a:bodyPr/>
                    <a:lstStyle/>
                    <a:p>
                      <a:pPr algn="l">
                        <a:spcBef>
                          <a:spcPts val="0"/>
                        </a:spcBef>
                        <a:spcAft>
                          <a:spcPts val="0"/>
                        </a:spcAft>
                      </a:pPr>
                      <a:r>
                        <a:rPr sz="1060" b="1" i="0">
                          <a:solidFill>
                            <a:srgbClr val="1A1A2E"/>
                          </a:solidFill>
                          <a:latin typeface="Calibri"/>
                        </a:rPr>
                        <a:t>5,000c (Stage 4)</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FP16 (halfvec)</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1,000 blks</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1170.57 vs. 529.00</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Index Scan (HNSW)</a:t>
                      </a:r>
                    </a:p>
                  </a:txBody>
                  <a:tcPr anchor="ctr" marT="14000" marB="14000" marL="28000" marR="28000">
                    <a:solidFill>
                      <a:srgbClr val="FFFFFF"/>
                    </a:solidFill>
                    <a:lnT w="6350" cap="flat" cmpd="sng" algn="ctr">
                      <a:solidFill>
                        <a:srgbClr val="D0D7DE"/>
                      </a:solidFill>
                    </a:lnT>
                    <a:lnB w="6350" cap="flat" cmpd="sng" algn="ctr">
                      <a:solidFill>
                        <a:srgbClr val="D0D7DE"/>
                      </a:solidFill>
                    </a:lnB>
                    <a:lnL w="0">
                      <a:noFill/>
                    </a:lnL>
                    <a:lnR w="0">
                      <a:noFill/>
                    </a:lnR>
                  </a:tcPr>
                </a:tc>
              </a:tr>
              <a:tr h="300450">
                <a:tc>
                  <a:txBody>
                    <a:bodyPr/>
                    <a:lstStyle/>
                    <a:p>
                      <a:pPr algn="l">
                        <a:spcBef>
                          <a:spcPts val="0"/>
                        </a:spcBef>
                        <a:spcAft>
                          <a:spcPts val="0"/>
                        </a:spcAft>
                      </a:pPr>
                      <a:r>
                        <a:rPr sz="1060" b="1" i="0">
                          <a:solidFill>
                            <a:srgbClr val="1A1A2E"/>
                          </a:solidFill>
                          <a:latin typeface="Calibri"/>
                        </a:rPr>
                        <a:t>10,000c (Stage 4)</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l">
                        <a:spcBef>
                          <a:spcPts val="0"/>
                        </a:spcBef>
                        <a:spcAft>
                          <a:spcPts val="0"/>
                        </a:spcAft>
                      </a:pPr>
                      <a:r>
                        <a:rPr sz="1060" b="0" i="0">
                          <a:solidFill>
                            <a:srgbClr val="1A1A2E"/>
                          </a:solidFill>
                          <a:latin typeface="Calibri"/>
                        </a:rPr>
                        <a:t>FP32 / FP16</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64 / 2,000</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0" i="0">
                          <a:solidFill>
                            <a:srgbClr val="1A1A2E"/>
                          </a:solidFill>
                          <a:latin typeface="Calibri"/>
                        </a:rPr>
                        <a:t>405 vs 88 / 2341 vs 566</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c>
                  <a:txBody>
                    <a:bodyPr/>
                    <a:lstStyle/>
                    <a:p>
                      <a:pPr algn="ctr">
                        <a:spcBef>
                          <a:spcPts val="0"/>
                        </a:spcBef>
                        <a:spcAft>
                          <a:spcPts val="0"/>
                        </a:spcAft>
                      </a:pPr>
                      <a:r>
                        <a:rPr sz="1060" b="1" i="0">
                          <a:solidFill>
                            <a:srgbClr val="1A1A2E"/>
                          </a:solidFill>
                          <a:latin typeface="Calibri"/>
                        </a:rPr>
                        <a:t>Index Scan (Both)</a:t>
                      </a:r>
                    </a:p>
                  </a:txBody>
                  <a:tcPr anchor="ctr" marT="14000" marB="14000" marL="28000" marR="28000">
                    <a:solidFill>
                      <a:srgbClr val="F4F7F9"/>
                    </a:solidFill>
                    <a:lnT w="6350" cap="flat" cmpd="sng" algn="ctr">
                      <a:solidFill>
                        <a:srgbClr val="D0D7DE"/>
                      </a:solidFill>
                    </a:lnT>
                    <a:lnB w="6350" cap="flat" cmpd="sng" algn="ctr">
                      <a:solidFill>
                        <a:srgbClr val="D0D7DE"/>
                      </a:solidFill>
                    </a:lnB>
                    <a:lnL w="0">
                      <a:noFill/>
                    </a:lnL>
                    <a:lnR w="0">
                      <a:noFill/>
                    </a:lnR>
                  </a:tcPr>
                </a:tc>
              </a:tr>
            </a:tbl>
          </a:graphicData>
        </a:graphic>
      </p:graphicFrame>
      <p:sp>
        <p:nvSpPr>
          <p:cNvPr id="9" name="Rounded Rectangle 8"/>
          <p:cNvSpPr/>
          <p:nvPr/>
        </p:nvSpPr>
        <p:spPr>
          <a:xfrm>
            <a:off x="5989320" y="4425696"/>
            <a:ext cx="5559552" cy="1737360"/>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190488" y="4553712"/>
            <a:ext cx="5157216" cy="1463040"/>
          </a:xfrm>
          <a:prstGeom prst="rect">
            <a:avLst/>
          </a:prstGeom>
          <a:noFill/>
        </p:spPr>
        <p:txBody>
          <a:bodyPr wrap="square" anchor="t" lIns="0" tIns="0" rIns="0" bIns="0">
            <a:spAutoFit/>
          </a:bodyPr>
          <a:lstStyle/>
          <a:p>
            <a:pPr>
              <a:spcAft>
                <a:spcPts val="300"/>
              </a:spcAft>
            </a:pPr>
            <a:r>
              <a:rPr sz="1380" b="1" i="0">
                <a:solidFill>
                  <a:srgbClr val="21295C"/>
                </a:solidFill>
                <a:latin typeface="Calibri"/>
              </a:rPr>
              <a:t>Planner Cost Model Asymmetry &amp; Crossover Scope</a:t>
            </a:r>
          </a:p>
          <a:p>
            <a:pPr marL="201168" indent="-201168">
              <a:spcAft>
                <a:spcPts val="200"/>
              </a:spcAft>
              <a:buFont typeface="Calibri"/>
              <a:buChar char="•"/>
            </a:pPr>
            <a:r>
              <a:rPr sz="1140" b="1" i="0">
                <a:solidFill>
                  <a:srgbClr val="065A82"/>
                </a:solidFill>
                <a:latin typeface="Calibri"/>
              </a:rPr>
              <a:t>Main-Heap Cost Weighting: </a:t>
            </a:r>
            <a:r>
              <a:rPr sz="1100" b="0" i="0">
                <a:solidFill>
                  <a:srgbClr val="1A1A2E"/>
                </a:solidFill>
                <a:latin typeface="Calibri"/>
              </a:rPr>
              <a:t>PostgreSQL's seq-scan cost weights primary heap relpages (32 and 64 blocks for FP32 vs. 1,000 and 2,000 inline blocks for FP16) without directly pricing out-of-line pg_toast pages.</a:t>
            </a:r>
          </a:p>
          <a:p>
            <a:pPr marL="201168" indent="-201168">
              <a:spcAft>
                <a:spcPts val="200"/>
              </a:spcAft>
              <a:buFont typeface="Calibri"/>
              <a:buChar char="•"/>
            </a:pPr>
            <a:r>
              <a:rPr sz="1140" b="1" i="0">
                <a:solidFill>
                  <a:srgbClr val="065A82"/>
                </a:solidFill>
                <a:latin typeface="Calibri"/>
              </a:rPr>
              <a:t>Transition &amp; Model Units: </a:t>
            </a:r>
            <a:r>
              <a:rPr sz="1100" b="0" i="0">
                <a:solidFill>
                  <a:srgbClr val="1A1A2E"/>
                </a:solidFill>
                <a:latin typeface="Calibri"/>
              </a:rPr>
              <a:t>FP16 switched from Seq Scan at 1k (cost 235.17) to HNSW Index Scan at 5k (529.00 vs. 1170.57). *n/r = not recorded; unforced Stage 3 alternative-plan costs were not captured.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13. LIMITATIONS &amp; THREATS TO VALIDITY</a:t>
            </a:r>
          </a:p>
          <a:p>
            <a:pPr algn="l">
              <a:spcAft>
                <a:spcPts val="300"/>
              </a:spcAft>
            </a:pPr>
            <a:r>
              <a:rPr sz="2700" b="1" i="0">
                <a:solidFill>
                  <a:srgbClr val="21295C"/>
                </a:solidFill>
                <a:latin typeface="Calibri"/>
              </a:rPr>
              <a:t>Methodological Boundaries, Statistical Scope, and Archive Provenance</a:t>
            </a:r>
          </a:p>
          <a:p>
            <a:pPr algn="l"/>
            <a:r>
              <a:rPr sz="1350" b="0" i="0">
                <a:solidFill>
                  <a:srgbClr val="5B6472"/>
                </a:solidFill>
                <a:latin typeface="Calibri"/>
              </a:rPr>
              <a:t>Candid summary of internal, construct, and external validity constraints governing interpretation of results</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14 / 16</a:t>
            </a:r>
          </a:p>
        </p:txBody>
      </p:sp>
      <p:sp>
        <p:nvSpPr>
          <p:cNvPr id="7" name="Rounded Rectangle 6"/>
          <p:cNvSpPr/>
          <p:nvPr/>
        </p:nvSpPr>
        <p:spPr>
          <a:xfrm>
            <a:off x="640080" y="2029968"/>
            <a:ext cx="5376672" cy="1993392"/>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40080" y="2029968"/>
            <a:ext cx="5376672" cy="34747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075688"/>
            <a:ext cx="5084064" cy="256032"/>
          </a:xfrm>
          <a:prstGeom prst="rect">
            <a:avLst/>
          </a:prstGeom>
          <a:noFill/>
        </p:spPr>
        <p:txBody>
          <a:bodyPr wrap="square" anchor="t" lIns="0" tIns="0" rIns="0" bIns="0">
            <a:spAutoFit/>
          </a:bodyPr>
          <a:lstStyle/>
          <a:p>
            <a:r>
              <a:rPr sz="1300" b="1" i="0">
                <a:solidFill>
                  <a:srgbClr val="FFFFFF"/>
                </a:solidFill>
                <a:latin typeface="Calibri"/>
              </a:rPr>
              <a:t>1. Internal &amp; Statistical Validity</a:t>
            </a:r>
          </a:p>
        </p:txBody>
      </p:sp>
      <p:sp>
        <p:nvSpPr>
          <p:cNvPr id="10" name="TextBox 9"/>
          <p:cNvSpPr txBox="1"/>
          <p:nvPr/>
        </p:nvSpPr>
        <p:spPr>
          <a:xfrm>
            <a:off x="804671" y="2432304"/>
            <a:ext cx="5047488" cy="1536192"/>
          </a:xfrm>
          <a:prstGeom prst="rect">
            <a:avLst/>
          </a:prstGeom>
          <a:noFill/>
        </p:spPr>
        <p:txBody>
          <a:bodyPr wrap="square" anchor="t" lIns="0" tIns="0" rIns="0" bIns="0">
            <a:spAutoFit/>
          </a:bodyPr>
          <a:lstStyle/>
          <a:p>
            <a:pPr marL="201168" indent="-201168">
              <a:spcAft>
                <a:spcPts val="200"/>
              </a:spcAft>
              <a:buFont typeface="Calibri"/>
              <a:buChar char="•"/>
            </a:pPr>
            <a:r>
              <a:rPr sz="1100" b="1" i="0">
                <a:solidFill>
                  <a:srgbClr val="1A1A2E"/>
                </a:solidFill>
                <a:latin typeface="Calibri"/>
              </a:rPr>
              <a:t>Repeated Queries (20 x 5): </a:t>
            </a:r>
            <a:r>
              <a:rPr sz="1060" b="0" i="0">
                <a:solidFill>
                  <a:srgbClr val="5B6472"/>
                </a:solidFill>
                <a:latin typeface="Calibri"/>
              </a:rPr>
              <a:t>The 100 timed trials per config repeat the same 20 fixed queries, not 100 independent queries from a general population.</a:t>
            </a:r>
          </a:p>
          <a:p>
            <a:pPr marL="201168" indent="-201168">
              <a:spcAft>
                <a:spcPts val="200"/>
              </a:spcAft>
              <a:buFont typeface="Calibri"/>
              <a:buChar char="•"/>
            </a:pPr>
            <a:r>
              <a:rPr sz="1100" b="1" i="0">
                <a:solidFill>
                  <a:srgbClr val="1A1A2E"/>
                </a:solidFill>
                <a:latin typeface="Calibri"/>
              </a:rPr>
              <a:t>Descriptive Statistics Only: </a:t>
            </a:r>
            <a:r>
              <a:rPr sz="1060" b="0" i="0">
                <a:solidFill>
                  <a:srgbClr val="5B6472"/>
                </a:solidFill>
                <a:latin typeface="Calibri"/>
              </a:rPr>
              <a:t>Mean, median, IQR, min, max, and StDev describe observed runs; no confidence intervals or formal significance tests were computed.</a:t>
            </a:r>
          </a:p>
          <a:p>
            <a:pPr marL="201168" indent="-201168">
              <a:spcAft>
                <a:spcPts val="200"/>
              </a:spcAft>
              <a:buFont typeface="Calibri"/>
              <a:buChar char="•"/>
            </a:pPr>
            <a:r>
              <a:rPr sz="1100" b="1" i="0">
                <a:solidFill>
                  <a:srgbClr val="1A1A2E"/>
                </a:solidFill>
                <a:latin typeface="Calibri"/>
              </a:rPr>
              <a:t>Timing Boundaries &amp; Cache: </a:t>
            </a:r>
            <a:r>
              <a:rPr sz="1060" b="0" i="0">
                <a:solidFill>
                  <a:srgbClr val="5B6472"/>
                </a:solidFill>
                <a:latin typeface="Calibri"/>
              </a:rPr>
              <a:t>Stage 3 (per-trial Tx/GUC block) and Stage 4 v2 (GUCs outside timer; superseding v1) are kept separate; alternating pass order reduces but does not eliminate warm-cache/OS effects.</a:t>
            </a:r>
          </a:p>
        </p:txBody>
      </p:sp>
      <p:sp>
        <p:nvSpPr>
          <p:cNvPr id="11" name="Rounded Rectangle 10"/>
          <p:cNvSpPr/>
          <p:nvPr/>
        </p:nvSpPr>
        <p:spPr>
          <a:xfrm>
            <a:off x="6172200" y="2029968"/>
            <a:ext cx="5376672" cy="1993392"/>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72200" y="2029968"/>
            <a:ext cx="5376672" cy="347472"/>
          </a:xfrm>
          <a:prstGeom prst="rect">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318504" y="2075688"/>
            <a:ext cx="5084064" cy="256032"/>
          </a:xfrm>
          <a:prstGeom prst="rect">
            <a:avLst/>
          </a:prstGeom>
          <a:noFill/>
        </p:spPr>
        <p:txBody>
          <a:bodyPr wrap="square" anchor="t" lIns="0" tIns="0" rIns="0" bIns="0">
            <a:spAutoFit/>
          </a:bodyPr>
          <a:lstStyle/>
          <a:p>
            <a:r>
              <a:rPr sz="1300" b="1" i="0">
                <a:solidFill>
                  <a:srgbClr val="FFFFFF"/>
                </a:solidFill>
                <a:latin typeface="Calibri"/>
              </a:rPr>
              <a:t>2. Construct &amp; External Validity</a:t>
            </a:r>
          </a:p>
        </p:txBody>
      </p:sp>
      <p:sp>
        <p:nvSpPr>
          <p:cNvPr id="14" name="TextBox 13"/>
          <p:cNvSpPr txBox="1"/>
          <p:nvPr/>
        </p:nvSpPr>
        <p:spPr>
          <a:xfrm>
            <a:off x="6336792" y="2432304"/>
            <a:ext cx="5047488" cy="1536192"/>
          </a:xfrm>
          <a:prstGeom prst="rect">
            <a:avLst/>
          </a:prstGeom>
          <a:noFill/>
        </p:spPr>
        <p:txBody>
          <a:bodyPr wrap="square" anchor="t" lIns="0" tIns="0" rIns="0" bIns="0">
            <a:spAutoFit/>
          </a:bodyPr>
          <a:lstStyle/>
          <a:p>
            <a:pPr marL="201168" indent="-201168">
              <a:spcAft>
                <a:spcPts val="200"/>
              </a:spcAft>
              <a:buFont typeface="Calibri"/>
              <a:buChar char="•"/>
            </a:pPr>
            <a:r>
              <a:rPr sz="1100" b="1" i="0">
                <a:solidFill>
                  <a:srgbClr val="1A1A2E"/>
                </a:solidFill>
                <a:latin typeface="Calibri"/>
              </a:rPr>
              <a:t>Set Overlap vs. Relevance: </a:t>
            </a:r>
            <a:r>
              <a:rPr sz="1060" b="0" i="0">
                <a:solidFill>
                  <a:srgbClr val="5B6472"/>
                </a:solidFill>
                <a:latin typeface="Calibri"/>
              </a:rPr>
              <a:t>Recall@K and Agreement@K measure top-K set overlap against exact cosine scan, NOT human semantic relevance (qrels) or end-to-end RAG LLM answer quality.</a:t>
            </a:r>
          </a:p>
          <a:p>
            <a:pPr marL="201168" indent="-201168">
              <a:spcAft>
                <a:spcPts val="200"/>
              </a:spcAft>
              <a:buFont typeface="Calibri"/>
              <a:buChar char="•"/>
            </a:pPr>
            <a:r>
              <a:rPr sz="1100" b="1" i="0">
                <a:solidFill>
                  <a:srgbClr val="1A1A2E"/>
                </a:solidFill>
                <a:latin typeface="Calibri"/>
              </a:rPr>
              <a:t>Single Host &amp; Model Scope: </a:t>
            </a:r>
            <a:r>
              <a:rPr sz="1060" b="0" i="0">
                <a:solidFill>
                  <a:srgbClr val="5B6472"/>
                </a:solidFill>
                <a:latin typeface="Calibri"/>
              </a:rPr>
              <a:t>Evaluated on one laptop (Core Ultra 9 185H), one 768-D model (nomic-embed-text), and fixed HNSW settings (m=16, ef_c=64, ef_s=40).</a:t>
            </a:r>
          </a:p>
          <a:p>
            <a:pPr marL="201168" indent="-201168">
              <a:spcAft>
                <a:spcPts val="200"/>
              </a:spcAft>
              <a:buFont typeface="Calibri"/>
              <a:buChar char="•"/>
            </a:pPr>
            <a:r>
              <a:rPr sz="1100" b="1" i="0">
                <a:solidFill>
                  <a:srgbClr val="1A1A2E"/>
                </a:solidFill>
                <a:latin typeface="Calibri"/>
              </a:rPr>
              <a:t>Capacity vs. Scaling: </a:t>
            </a:r>
            <a:r>
              <a:rPr sz="1060" b="0" i="0">
                <a:solidFill>
                  <a:srgbClr val="5B6472"/>
                </a:solidFill>
                <a:latin typeface="Calibri"/>
              </a:rPr>
              <a:t>Recorded footprints (up to 79.20 MiB) are below the 128 MB shared_buffers capacity (capacity comparison, not proof of full residency); no general scaling laws or 1,536-D inline claims are made.</a:t>
            </a:r>
          </a:p>
        </p:txBody>
      </p:sp>
      <p:sp>
        <p:nvSpPr>
          <p:cNvPr id="15" name="Rounded Rectangle 14"/>
          <p:cNvSpPr/>
          <p:nvPr/>
        </p:nvSpPr>
        <p:spPr>
          <a:xfrm>
            <a:off x="640080" y="4160520"/>
            <a:ext cx="5376672" cy="1993392"/>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640080" y="4160520"/>
            <a:ext cx="5376672" cy="347472"/>
          </a:xfrm>
          <a:prstGeom prst="rect">
            <a:avLst/>
          </a:prstGeom>
          <a:solidFill>
            <a:srgbClr val="006D5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86384" y="4206240"/>
            <a:ext cx="5084064" cy="256032"/>
          </a:xfrm>
          <a:prstGeom prst="rect">
            <a:avLst/>
          </a:prstGeom>
          <a:noFill/>
        </p:spPr>
        <p:txBody>
          <a:bodyPr wrap="square" anchor="t" lIns="0" tIns="0" rIns="0" bIns="0">
            <a:spAutoFit/>
          </a:bodyPr>
          <a:lstStyle/>
          <a:p>
            <a:r>
              <a:rPr sz="1300" b="1" i="0">
                <a:solidFill>
                  <a:srgbClr val="FFFFFF"/>
                </a:solidFill>
                <a:latin typeface="Calibri"/>
              </a:rPr>
              <a:t>3. Index-Build &amp; Q0 I/O Evidence</a:t>
            </a:r>
          </a:p>
        </p:txBody>
      </p:sp>
      <p:sp>
        <p:nvSpPr>
          <p:cNvPr id="18" name="TextBox 17"/>
          <p:cNvSpPr txBox="1"/>
          <p:nvPr/>
        </p:nvSpPr>
        <p:spPr>
          <a:xfrm>
            <a:off x="804671" y="4562856"/>
            <a:ext cx="5047488" cy="1536192"/>
          </a:xfrm>
          <a:prstGeom prst="rect">
            <a:avLst/>
          </a:prstGeom>
          <a:noFill/>
        </p:spPr>
        <p:txBody>
          <a:bodyPr wrap="square" anchor="t" lIns="0" tIns="0" rIns="0" bIns="0">
            <a:spAutoFit/>
          </a:bodyPr>
          <a:lstStyle/>
          <a:p>
            <a:pPr marL="201168" indent="-201168">
              <a:spcAft>
                <a:spcPts val="200"/>
              </a:spcAft>
              <a:buFont typeface="Calibri"/>
              <a:buChar char="•"/>
            </a:pPr>
            <a:r>
              <a:rPr sz="1100" b="1" i="0">
                <a:solidFill>
                  <a:srgbClr val="1A1A2E"/>
                </a:solidFill>
                <a:latin typeface="Calibri"/>
              </a:rPr>
              <a:t>Single-Run Build Times: </a:t>
            </a:r>
            <a:r>
              <a:rPr sz="1060" b="0" i="0">
                <a:solidFill>
                  <a:srgbClr val="5B6472"/>
                </a:solidFill>
                <a:latin typeface="Calibri"/>
              </a:rPr>
              <a:t>Recorded HNSW build durations (0.1606 s, 1.2640 s, 2.6411 s for FP16) are single-run wall-clock observations without WAL (pg_stat_wal) or peak-RAM profiling.</a:t>
            </a:r>
          </a:p>
          <a:p>
            <a:pPr marL="201168" indent="-201168">
              <a:spcAft>
                <a:spcPts val="200"/>
              </a:spcAft>
              <a:buFont typeface="Calibri"/>
              <a:buChar char="•"/>
            </a:pPr>
            <a:r>
              <a:rPr sz="1100" b="1" i="0">
                <a:solidFill>
                  <a:srgbClr val="1A1A2E"/>
                </a:solidFill>
                <a:latin typeface="Calibri"/>
              </a:rPr>
              <a:t>Single-Query Q0 Plans: </a:t>
            </a:r>
            <a:r>
              <a:rPr sz="1060" b="0" i="0">
                <a:solidFill>
                  <a:srgbClr val="5B6472"/>
                </a:solidFill>
                <a:latin typeface="Calibri"/>
              </a:rPr>
              <a:t>EXPLAIN (ANALYZE, BUFFERS) buffer-hit reductions (93.35% fewer in exact search) come from one query (Q0) with shared read = 0.</a:t>
            </a:r>
          </a:p>
          <a:p>
            <a:pPr marL="201168" indent="-201168">
              <a:spcAft>
                <a:spcPts val="200"/>
              </a:spcAft>
              <a:buFont typeface="Calibri"/>
              <a:buChar char="•"/>
            </a:pPr>
            <a:r>
              <a:rPr sz="1100" b="1" i="0">
                <a:solidFill>
                  <a:srgbClr val="1A1A2E"/>
                </a:solidFill>
                <a:latin typeface="Calibri"/>
              </a:rPr>
              <a:t>Buffer Hits vs. Disk I/O: </a:t>
            </a:r>
            <a:r>
              <a:rPr sz="1060" b="0" i="0">
                <a:solidFill>
                  <a:srgbClr val="5B6472"/>
                </a:solidFill>
                <a:latin typeface="Calibri"/>
              </a:rPr>
              <a:t>shared hit counts runtime page accesses (including repeated touches to the same page) and does not establish physical disk reads.</a:t>
            </a:r>
          </a:p>
        </p:txBody>
      </p:sp>
      <p:sp>
        <p:nvSpPr>
          <p:cNvPr id="19" name="Rounded Rectangle 18"/>
          <p:cNvSpPr/>
          <p:nvPr/>
        </p:nvSpPr>
        <p:spPr>
          <a:xfrm>
            <a:off x="6172200" y="4160520"/>
            <a:ext cx="5376672" cy="1993392"/>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172200" y="4160520"/>
            <a:ext cx="5376672" cy="347472"/>
          </a:xfrm>
          <a:prstGeom prst="rect">
            <a:avLst/>
          </a:prstGeom>
          <a:solidFill>
            <a:srgbClr val="21295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318504" y="4206240"/>
            <a:ext cx="5084064" cy="256032"/>
          </a:xfrm>
          <a:prstGeom prst="rect">
            <a:avLst/>
          </a:prstGeom>
          <a:noFill/>
        </p:spPr>
        <p:txBody>
          <a:bodyPr wrap="square" anchor="t" lIns="0" tIns="0" rIns="0" bIns="0">
            <a:spAutoFit/>
          </a:bodyPr>
          <a:lstStyle/>
          <a:p>
            <a:r>
              <a:rPr sz="1300" b="1" i="0">
                <a:solidFill>
                  <a:srgbClr val="FFFFFF"/>
                </a:solidFill>
                <a:latin typeface="Calibri"/>
              </a:rPr>
              <a:t>4. Disclosed Source &amp; Archive Notes</a:t>
            </a:r>
          </a:p>
        </p:txBody>
      </p:sp>
      <p:sp>
        <p:nvSpPr>
          <p:cNvPr id="22" name="TextBox 21"/>
          <p:cNvSpPr txBox="1"/>
          <p:nvPr/>
        </p:nvSpPr>
        <p:spPr>
          <a:xfrm>
            <a:off x="6336792" y="4562856"/>
            <a:ext cx="5047488" cy="1536192"/>
          </a:xfrm>
          <a:prstGeom prst="rect">
            <a:avLst/>
          </a:prstGeom>
          <a:noFill/>
        </p:spPr>
        <p:txBody>
          <a:bodyPr wrap="square" anchor="t" lIns="0" tIns="0" rIns="0" bIns="0">
            <a:spAutoFit/>
          </a:bodyPr>
          <a:lstStyle/>
          <a:p>
            <a:pPr marL="201168" indent="-201168">
              <a:spcAft>
                <a:spcPts val="200"/>
              </a:spcAft>
              <a:buFont typeface="Calibri"/>
              <a:buChar char="•"/>
            </a:pPr>
            <a:r>
              <a:rPr sz="1100" b="1" i="0">
                <a:solidFill>
                  <a:srgbClr val="1A1A2E"/>
                </a:solidFill>
                <a:latin typeface="Calibri"/>
              </a:rPr>
              <a:t>Datum Size &amp; Stage 3 Gaps: </a:t>
            </a:r>
            <a:r>
              <a:rPr sz="1060" b="0" i="0">
                <a:solidFill>
                  <a:srgbClr val="5B6472"/>
                </a:solidFill>
                <a:latin typeface="Calibri"/>
              </a:rPr>
              <a:t>Empirical pg_column_size(vector(768)) is 3,076 B vs. 3,080 B formula (4d+8, cause unresolved); Stage 3 post-index inclusive total and unforced planner costs were not recorded.</a:t>
            </a:r>
          </a:p>
          <a:p>
            <a:pPr marL="201168" indent="-201168">
              <a:spcAft>
                <a:spcPts val="200"/>
              </a:spcAft>
              <a:buFont typeface="Calibri"/>
              <a:buChar char="•"/>
            </a:pPr>
            <a:r>
              <a:rPr sz="1100" b="1" i="0">
                <a:solidFill>
                  <a:srgbClr val="1A1A2E"/>
                </a:solidFill>
                <a:latin typeface="Calibri"/>
              </a:rPr>
              <a:t>Stage 2 &amp; Rounding Notes: </a:t>
            </a:r>
            <a:r>
              <a:rPr sz="1060" b="0" i="0">
                <a:solidFill>
                  <a:srgbClr val="5B6472"/>
                </a:solidFill>
                <a:latin typeface="Calibri"/>
              </a:rPr>
              <a:t>Stage 2 Recall@3 = 0.9833 (59/60 overlap; cause/order not established); minor rounding differences (31.18% vs. 31.19% 1k build; 11.86% vs. 11.84% 10k HNSW med).</a:t>
            </a:r>
          </a:p>
          <a:p>
            <a:pPr marL="201168" indent="-201168">
              <a:spcAft>
                <a:spcPts val="200"/>
              </a:spcAft>
              <a:buFont typeface="Calibri"/>
              <a:buChar char="•"/>
            </a:pPr>
            <a:r>
              <a:rPr sz="1100" b="1" i="0">
                <a:solidFill>
                  <a:srgbClr val="1A1A2E"/>
                </a:solidFill>
                <a:latin typeface="Calibri"/>
              </a:rPr>
              <a:t>Historical Metadata: </a:t>
            </a:r>
            <a:r>
              <a:rPr sz="1060" b="0" i="0">
                <a:solidFill>
                  <a:srgbClr val="5B6472"/>
                </a:solidFill>
                <a:latin typeface="Calibri"/>
              </a:rPr>
              <a:t>Older summaries list PG 18.0 / pgvector 0.5.0 badge / work_mem=64 MB (vs. 18.4 / 0.8.4 / 4 MB in stage reports) and differ on Ollama version (0.4.7 vs. 0.32.13).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65A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329184"/>
            <a:ext cx="10908792" cy="1417320"/>
          </a:xfrm>
          <a:prstGeom prst="rect">
            <a:avLst/>
          </a:prstGeom>
          <a:noFill/>
        </p:spPr>
        <p:txBody>
          <a:bodyPr wrap="square" anchor="t" lIns="0" tIns="0" rIns="0" bIns="0">
            <a:spAutoFit/>
          </a:bodyPr>
          <a:lstStyle/>
          <a:p>
            <a:pPr algn="l">
              <a:spcAft>
                <a:spcPts val="200"/>
              </a:spcAft>
            </a:pPr>
            <a:r>
              <a:rPr sz="1150" b="1" i="0">
                <a:solidFill>
                  <a:srgbClr val="1C7293"/>
                </a:solidFill>
                <a:latin typeface="Calibri"/>
              </a:rPr>
              <a:t>14. CONCLUSION &amp; FUTURE ENHANCEMENTS</a:t>
            </a:r>
          </a:p>
          <a:p>
            <a:pPr algn="l">
              <a:spcAft>
                <a:spcPts val="300"/>
              </a:spcAft>
            </a:pPr>
            <a:r>
              <a:rPr sz="2700" b="1" i="0">
                <a:solidFill>
                  <a:srgbClr val="21295C"/>
                </a:solidFill>
                <a:latin typeface="Calibri"/>
              </a:rPr>
              <a:t>Summary of Validated Findings and Future Research Directions</a:t>
            </a:r>
          </a:p>
          <a:p>
            <a:pPr algn="l"/>
            <a:r>
              <a:rPr sz="1350" b="0" i="0">
                <a:solidFill>
                  <a:srgbClr val="5B6472"/>
                </a:solidFill>
                <a:latin typeface="Calibri"/>
              </a:rPr>
              <a:t>Empirical takeaways across storage, latency, and retrieval fidelity in PostgreSQL 18.4 + pgvector 0.8.4</a:t>
            </a:r>
          </a:p>
        </p:txBody>
      </p:sp>
      <p:sp>
        <p:nvSpPr>
          <p:cNvPr id="5" name="TextBox 4"/>
          <p:cNvSpPr txBox="1"/>
          <p:nvPr/>
        </p:nvSpPr>
        <p:spPr>
          <a:xfrm>
            <a:off x="640080" y="6400800"/>
            <a:ext cx="8961120" cy="256032"/>
          </a:xfrm>
          <a:prstGeom prst="rect">
            <a:avLst/>
          </a:prstGeom>
          <a:noFill/>
        </p:spPr>
        <p:txBody>
          <a:bodyPr wrap="square" anchor="t" lIns="0" tIns="0" rIns="0" bIns="0">
            <a:spAutoFit/>
          </a:bodyPr>
          <a:lstStyle/>
          <a:p>
            <a:pPr algn="l"/>
            <a:r>
              <a:rPr sz="1050" b="0" i="0">
                <a:solidFill>
                  <a:srgbClr val="5B6472"/>
                </a:solidFill>
                <a:latin typeface="Calibri"/>
              </a:rPr>
              <a:t>Compression-Aware Vector Database Indexing for RAG  ·  BCSE302P Final Viva (VIT Vellore)</a:t>
            </a:r>
          </a:p>
        </p:txBody>
      </p:sp>
      <p:sp>
        <p:nvSpPr>
          <p:cNvPr id="6" name="TextBox 5"/>
          <p:cNvSpPr txBox="1"/>
          <p:nvPr/>
        </p:nvSpPr>
        <p:spPr>
          <a:xfrm>
            <a:off x="10607040" y="6400800"/>
            <a:ext cx="941832" cy="256032"/>
          </a:xfrm>
          <a:prstGeom prst="rect">
            <a:avLst/>
          </a:prstGeom>
          <a:noFill/>
        </p:spPr>
        <p:txBody>
          <a:bodyPr wrap="square" anchor="t" lIns="0" tIns="0" rIns="0" bIns="0">
            <a:spAutoFit/>
          </a:bodyPr>
          <a:lstStyle/>
          <a:p>
            <a:pPr algn="r"/>
            <a:r>
              <a:rPr sz="1050" b="1" i="0">
                <a:solidFill>
                  <a:srgbClr val="065A82"/>
                </a:solidFill>
                <a:latin typeface="Calibri"/>
              </a:rPr>
              <a:t>15 / 16</a:t>
            </a:r>
          </a:p>
        </p:txBody>
      </p:sp>
      <p:sp>
        <p:nvSpPr>
          <p:cNvPr id="7" name="Rounded Rectangle 6"/>
          <p:cNvSpPr/>
          <p:nvPr/>
        </p:nvSpPr>
        <p:spPr>
          <a:xfrm>
            <a:off x="640080" y="2029968"/>
            <a:ext cx="5486400" cy="4096512"/>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40080" y="2029968"/>
            <a:ext cx="5486400" cy="402336"/>
          </a:xfrm>
          <a:prstGeom prst="rect">
            <a:avLst/>
          </a:prstGeom>
          <a:solidFill>
            <a:srgbClr val="21295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2093976"/>
            <a:ext cx="5157216" cy="274320"/>
          </a:xfrm>
          <a:prstGeom prst="rect">
            <a:avLst/>
          </a:prstGeom>
          <a:noFill/>
        </p:spPr>
        <p:txBody>
          <a:bodyPr wrap="square" anchor="t" lIns="0" tIns="0" rIns="0" bIns="0">
            <a:spAutoFit/>
          </a:bodyPr>
          <a:lstStyle/>
          <a:p>
            <a:r>
              <a:rPr sz="1350" b="1" i="0">
                <a:solidFill>
                  <a:srgbClr val="FFFFFF"/>
                </a:solidFill>
                <a:latin typeface="Calibri"/>
              </a:rPr>
              <a:t>Three Principal Empirical Conclusions</a:t>
            </a:r>
          </a:p>
        </p:txBody>
      </p:sp>
      <p:sp>
        <p:nvSpPr>
          <p:cNvPr id="10" name="TextBox 9"/>
          <p:cNvSpPr txBox="1"/>
          <p:nvPr/>
        </p:nvSpPr>
        <p:spPr>
          <a:xfrm>
            <a:off x="822960" y="2523744"/>
            <a:ext cx="5120640" cy="3493008"/>
          </a:xfrm>
          <a:prstGeom prst="rect">
            <a:avLst/>
          </a:prstGeom>
          <a:noFill/>
        </p:spPr>
        <p:txBody>
          <a:bodyPr wrap="square" anchor="t" lIns="0" tIns="0" rIns="0" bIns="0">
            <a:spAutoFit/>
          </a:bodyPr>
          <a:lstStyle/>
          <a:p>
            <a:pPr marL="201168" indent="-201168">
              <a:spcAft>
                <a:spcPts val="400"/>
              </a:spcAft>
              <a:buFont typeface="Calibri"/>
              <a:buChar char="•"/>
            </a:pPr>
            <a:r>
              <a:rPr sz="1120" b="1" i="0">
                <a:solidFill>
                  <a:srgbClr val="065A82"/>
                </a:solidFill>
                <a:latin typeface="Calibri"/>
              </a:rPr>
              <a:t>1. Storage &amp; TOAST Elimination: </a:t>
            </a:r>
            <a:r>
              <a:rPr sz="1080" b="0" i="0">
                <a:solidFill>
                  <a:srgbClr val="1A1A2E"/>
                </a:solidFill>
                <a:latin typeface="Calibri"/>
              </a:rPr>
              <a:t>Casting 768-D vectors from vector(768) (3,076 B measured) to halfvec(768) (1,544 B) kept tuples inline in 8 KiB heap pages, eliminating 100% of out-of-line TOAST data payloads (0 B, with an empty 8 KiB TOAST index shell), reducing base relation size by 60.11%–60.56%, HNSW index size by 49.90%–49.98%, and inclusive post-index storage by 55.35% (5k) and 55.37% (10k).</a:t>
            </a:r>
          </a:p>
          <a:p>
            <a:pPr marL="201168" indent="-201168">
              <a:spcAft>
                <a:spcPts val="400"/>
              </a:spcAft>
              <a:buFont typeface="Calibri"/>
              <a:buChar char="•"/>
            </a:pPr>
            <a:r>
              <a:rPr sz="1120" b="1" i="0">
                <a:solidFill>
                  <a:srgbClr val="065A82"/>
                </a:solidFill>
                <a:latin typeface="Calibri"/>
              </a:rPr>
              <a:t>2. Exact vs. HNSW Query Latency: </a:t>
            </a:r>
            <a:r>
              <a:rPr sz="1080" b="0" i="0">
                <a:solidFill>
                  <a:srgbClr val="1A1A2E"/>
                </a:solidFill>
                <a:latin typeface="Calibri"/>
              </a:rPr>
              <a:t>In Stage 4 v2 (100 trials/config), inline FP16 achieved 6.22x lower mean (7.12x lower median) exact-scan latency at 5k and 7.24x lower mean (8.03x lower median) at 10k (consistent with 93.35% fewer Q0 buffer hits), while forced-HNSW latency was broadly similar (~3.37–4.13 ms mean).</a:t>
            </a:r>
          </a:p>
          <a:p>
            <a:pPr marL="201168" indent="-201168">
              <a:spcAft>
                <a:spcPts val="400"/>
              </a:spcAft>
              <a:buFont typeface="Calibri"/>
              <a:buChar char="•"/>
            </a:pPr>
            <a:r>
              <a:rPr sz="1120" b="1" i="0">
                <a:solidFill>
                  <a:srgbClr val="065A82"/>
                </a:solidFill>
                <a:latin typeface="Calibri"/>
              </a:rPr>
              <a:t>3. High Top-K Retrieval Overlap: </a:t>
            </a:r>
            <a:r>
              <a:rPr sz="1080" b="0" i="0">
                <a:solidFill>
                  <a:srgbClr val="1A1A2E"/>
                </a:solidFill>
                <a:latin typeface="Calibri"/>
              </a:rPr>
              <a:t>FP16 HNSW preserved 0.9600 Recall@10 against exact FP32 ground truth and 0.9850 (5k) / 0.9500 (10k) Agreement@10 with FP32 HNSW (noting set overlap does not establish semantic relevance or RAG answer quality).</a:t>
            </a:r>
          </a:p>
          <a:p>
            <a:pPr marL="201168" indent="-201168">
              <a:spcAft>
                <a:spcPts val="400"/>
              </a:spcAft>
              <a:buFont typeface="Calibri"/>
              <a:buChar char="•"/>
            </a:pPr>
            <a:r>
              <a:rPr sz="1120" b="1" i="0">
                <a:solidFill>
                  <a:srgbClr val="065A82"/>
                </a:solidFill>
                <a:latin typeface="Calibri"/>
              </a:rPr>
              <a:t>Tangible Outcome &amp; IDF Note: </a:t>
            </a:r>
            <a:r>
              <a:rPr sz="1080" b="0" i="0">
                <a:solidFill>
                  <a:srgbClr val="1A1A2E"/>
                </a:solidFill>
                <a:latin typeface="Calibri"/>
              </a:rPr>
              <a:t>Delivered 10 modular Python files, 43/43 passing pytest tests across implemented modules, SHA-256 dataset caches, and 5 CSV assets; a project-related Invention Disclosure Form (IDF) has been submitted (acknowledged as an IDF submission, not a filed/granted patent).</a:t>
            </a:r>
          </a:p>
        </p:txBody>
      </p:sp>
      <p:sp>
        <p:nvSpPr>
          <p:cNvPr id="11" name="Rounded Rectangle 10"/>
          <p:cNvSpPr/>
          <p:nvPr/>
        </p:nvSpPr>
        <p:spPr>
          <a:xfrm>
            <a:off x="6309360" y="2029968"/>
            <a:ext cx="5239512" cy="3127248"/>
          </a:xfrm>
          <a:prstGeom prst="roundRect">
            <a:avLst>
              <a:gd name="adj" fmla="val 4000"/>
            </a:avLst>
          </a:prstGeom>
          <a:solidFill>
            <a:srgbClr val="F4F7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309360" y="2029968"/>
            <a:ext cx="5239512" cy="402336"/>
          </a:xfrm>
          <a:prstGeom prst="rect">
            <a:avLst/>
          </a:prstGeom>
          <a:solidFill>
            <a:srgbClr val="1C72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6309360" y="5266944"/>
            <a:ext cx="5239512" cy="859536"/>
          </a:xfrm>
          <a:prstGeom prst="roundRect">
            <a:avLst>
              <a:gd name="adj" fmla="val 4000"/>
            </a:avLst>
          </a:prstGeom>
          <a:solidFill>
            <a:srgbClr val="21295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73952" y="2093976"/>
            <a:ext cx="4910328" cy="274320"/>
          </a:xfrm>
          <a:prstGeom prst="rect">
            <a:avLst/>
          </a:prstGeom>
          <a:noFill/>
        </p:spPr>
        <p:txBody>
          <a:bodyPr wrap="square" anchor="t" lIns="0" tIns="0" rIns="0" bIns="0">
            <a:spAutoFit/>
          </a:bodyPr>
          <a:lstStyle/>
          <a:p>
            <a:r>
              <a:rPr sz="1300" b="1" i="0">
                <a:solidFill>
                  <a:srgbClr val="FFFFFF"/>
                </a:solidFill>
                <a:latin typeface="Calibri"/>
              </a:rPr>
              <a:t>Future Enhancements (Not Implemented in Current Benchmark)</a:t>
            </a:r>
          </a:p>
        </p:txBody>
      </p:sp>
      <p:sp>
        <p:nvSpPr>
          <p:cNvPr id="15" name="TextBox 14"/>
          <p:cNvSpPr txBox="1"/>
          <p:nvPr/>
        </p:nvSpPr>
        <p:spPr>
          <a:xfrm>
            <a:off x="6492240" y="2523744"/>
            <a:ext cx="4873752" cy="2523744"/>
          </a:xfrm>
          <a:prstGeom prst="rect">
            <a:avLst/>
          </a:prstGeom>
          <a:noFill/>
        </p:spPr>
        <p:txBody>
          <a:bodyPr wrap="square" anchor="t" lIns="0" tIns="0" rIns="0" bIns="0">
            <a:spAutoFit/>
          </a:bodyPr>
          <a:lstStyle/>
          <a:p>
            <a:pPr marL="201168" indent="-201168">
              <a:spcAft>
                <a:spcPts val="400"/>
              </a:spcAft>
              <a:buFont typeface="Calibri"/>
              <a:buChar char="•"/>
            </a:pPr>
            <a:r>
              <a:rPr sz="1120" b="1" i="0">
                <a:solidFill>
                  <a:srgbClr val="1C7293"/>
                </a:solidFill>
                <a:latin typeface="Calibri"/>
              </a:rPr>
              <a:t>1. 100k–1M+ Corpus Scaling Under Memory Pressure: </a:t>
            </a:r>
            <a:r>
              <a:rPr sz="1080" b="0" i="0">
                <a:solidFill>
                  <a:srgbClr val="1A1A2E"/>
                </a:solidFill>
                <a:latin typeface="Calibri"/>
              </a:rPr>
              <a:t>Constrain shared_buffers and OS cache, recording PostgreSQL shared-buffer reads plus OS-level I/O instrumentation (since shared read &gt; 0 alone may still hit the OS page cache).</a:t>
            </a:r>
          </a:p>
          <a:p>
            <a:pPr marL="201168" indent="-201168">
              <a:spcAft>
                <a:spcPts val="400"/>
              </a:spcAft>
              <a:buFont typeface="Calibri"/>
              <a:buChar char="•"/>
            </a:pPr>
            <a:r>
              <a:rPr sz="1120" b="1" i="0">
                <a:solidFill>
                  <a:srgbClr val="1C7293"/>
                </a:solidFill>
                <a:latin typeface="Calibri"/>
              </a:rPr>
              <a:t>2. Multi-Trial Index Builds &amp; WAL Profiling: </a:t>
            </a:r>
            <a:r>
              <a:rPr sz="1080" b="0" i="0">
                <a:solidFill>
                  <a:srgbClr val="1A1A2E"/>
                </a:solidFill>
                <a:latin typeface="Calibri"/>
              </a:rPr>
              <a:t>Run repeated CREATE INDEX trials across maintenance_work_mem and parallel worker settings with pg_stat_wal and peak-RAM instrumentation.</a:t>
            </a:r>
          </a:p>
          <a:p>
            <a:pPr marL="201168" indent="-201168">
              <a:spcAft>
                <a:spcPts val="400"/>
              </a:spcAft>
              <a:buFont typeface="Calibri"/>
              <a:buChar char="•"/>
            </a:pPr>
            <a:r>
              <a:rPr sz="1120" b="1" i="0">
                <a:solidFill>
                  <a:srgbClr val="1C7293"/>
                </a:solidFill>
                <a:latin typeface="Calibri"/>
              </a:rPr>
              <a:t>3. Higher-D Models &amp; Alternative Compression: </a:t>
            </a:r>
            <a:r>
              <a:rPr sz="1080" b="0" i="0">
                <a:solidFill>
                  <a:srgbClr val="1A1A2E"/>
                </a:solidFill>
                <a:latin typeface="Calibri"/>
              </a:rPr>
              <a:t>Evaluate 1,536-D / 3,072-D embeddings and compare Scalar (SQ), Product (PQ) [7], anisotropic [8], and binary (bit) quantization where halfvec &gt; 2 KiB.</a:t>
            </a:r>
          </a:p>
          <a:p>
            <a:pPr marL="201168" indent="-201168">
              <a:spcAft>
                <a:spcPts val="400"/>
              </a:spcAft>
              <a:buFont typeface="Calibri"/>
              <a:buChar char="•"/>
            </a:pPr>
            <a:r>
              <a:rPr sz="1120" b="1" i="0">
                <a:solidFill>
                  <a:srgbClr val="1C7293"/>
                </a:solidFill>
                <a:latin typeface="Calibri"/>
              </a:rPr>
              <a:t>4. End-to-End RAG &amp; Human Relevance Judgments: </a:t>
            </a:r>
            <a:r>
              <a:rPr sz="1080" b="0" i="0">
                <a:solidFill>
                  <a:srgbClr val="1A1A2E"/>
                </a:solidFill>
                <a:latin typeface="Calibri"/>
              </a:rPr>
              <a:t>Connect PostgreSQL retrieval to MS MARCO qrels (MRR@10, nDCG@10) [3] and a local LLM generator (Qwen) to measure end-to-end answer quality [10].</a:t>
            </a:r>
          </a:p>
        </p:txBody>
      </p:sp>
      <p:sp>
        <p:nvSpPr>
          <p:cNvPr id="16" name="TextBox 15"/>
          <p:cNvSpPr txBox="1"/>
          <p:nvPr/>
        </p:nvSpPr>
        <p:spPr>
          <a:xfrm>
            <a:off x="6510528" y="5413248"/>
            <a:ext cx="4837176" cy="566928"/>
          </a:xfrm>
          <a:prstGeom prst="rect">
            <a:avLst/>
          </a:prstGeom>
          <a:noFill/>
        </p:spPr>
        <p:txBody>
          <a:bodyPr wrap="square" anchor="t" lIns="0" tIns="0" rIns="0" bIns="0">
            <a:spAutoFit/>
          </a:bodyPr>
          <a:lstStyle/>
          <a:p>
            <a:pPr algn="ctr">
              <a:spcAft>
                <a:spcPts val="200"/>
              </a:spcAft>
            </a:pPr>
            <a:r>
              <a:rPr sz="1550" b="1" i="0">
                <a:solidFill>
                  <a:srgbClr val="FFFFFF"/>
                </a:solidFill>
                <a:latin typeface="Calibri"/>
              </a:rPr>
              <a:t>Thank You  ·  Questions &amp; Viva Discussion</a:t>
            </a:r>
          </a:p>
          <a:p>
            <a:pPr algn="ctr"/>
            <a:r>
              <a:rPr sz="1100" b="0" i="0">
                <a:solidFill>
                  <a:srgbClr val="CADCFC"/>
                </a:solidFill>
                <a:latin typeface="Calibri"/>
              </a:rPr>
              <a:t>Yash Pradhan (24BCE0702) &amp; Anjini Pandey (24BCE0714)  |  Supervisor: Dr. D. Anuradha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40080" y="365760"/>
            <a:ext cx="10908792" cy="1234440"/>
          </a:xfrm>
          <a:prstGeom prst="rect">
            <a:avLst/>
          </a:prstGeom>
          <a:noFill/>
        </p:spPr>
        <p:txBody>
          <a:bodyPr wrap="square" anchor="t" lIns="0" tIns="0" rIns="0" bIns="0">
            <a:spAutoFit/>
          </a:bodyPr>
          <a:lstStyle/>
          <a:p>
            <a:pPr>
              <a:spcAft>
                <a:spcPts val="200"/>
              </a:spcAft>
            </a:pPr>
            <a:r>
              <a:rPr sz="1200" b="1" i="0">
                <a:solidFill>
                  <a:srgbClr val="8FB8D6"/>
                </a:solidFill>
                <a:latin typeface="Calibri"/>
              </a:rPr>
              <a:t>15. ACADEMIC &amp; TECHNICAL REFERENCES</a:t>
            </a:r>
          </a:p>
          <a:p>
            <a:r>
              <a:rPr sz="2800" b="1" i="0">
                <a:solidFill>
                  <a:srgbClr val="FFFFFF"/>
                </a:solidFill>
                <a:latin typeface="Calibri"/>
              </a:rPr>
              <a:t>Peer-Reviewed Publications [6–10] and Documentation [1–5]</a:t>
            </a:r>
          </a:p>
        </p:txBody>
      </p:sp>
      <p:graphicFrame>
        <p:nvGraphicFramePr>
          <p:cNvPr id="4" name="Table 3"/>
          <p:cNvGraphicFramePr>
            <a:graphicFrameLocks noGrp="1"/>
          </p:cNvGraphicFramePr>
          <p:nvPr/>
        </p:nvGraphicFramePr>
        <p:xfrm>
          <a:off x="640080" y="1792224"/>
          <a:ext cx="10908792" cy="4069080"/>
        </p:xfrm>
        <a:graphic>
          <a:graphicData uri="http://schemas.openxmlformats.org/drawingml/2006/table">
            <a:tbl>
              <a:tblPr firstRow="1" bandRow="1">
                <a:tableStyleId>{5C22544A-7EE6-4342-B048-85BDC9FD1C3A}</a:tableStyleId>
              </a:tblPr>
              <a:tblGrid>
                <a:gridCol w="530352"/>
                <a:gridCol w="2395728"/>
                <a:gridCol w="7982712"/>
              </a:tblGrid>
              <a:tr h="369916">
                <a:tc>
                  <a:txBody>
                    <a:bodyPr/>
                    <a:lstStyle/>
                    <a:p>
                      <a:pPr algn="ctr">
                        <a:spcBef>
                          <a:spcPts val="0"/>
                        </a:spcBef>
                        <a:spcAft>
                          <a:spcPts val="0"/>
                        </a:spcAft>
                      </a:pPr>
                      <a:r>
                        <a:rPr sz="1050" b="1" i="0">
                          <a:solidFill>
                            <a:srgbClr val="FFFFFF"/>
                          </a:solidFill>
                          <a:latin typeface="Calibri"/>
                        </a:rPr>
                        <a:t>Ref</a:t>
                      </a:r>
                    </a:p>
                  </a:txBody>
                  <a:tcPr anchor="ctr" marT="8000" marB="8000" marL="28000" marR="28000">
                    <a:solidFill>
                      <a:srgbClr val="1C7293"/>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1050" b="1" i="0">
                          <a:solidFill>
                            <a:srgbClr val="FFFFFF"/>
                          </a:solidFill>
                          <a:latin typeface="Calibri"/>
                        </a:rPr>
                        <a:t>Authors / Organization (Year)</a:t>
                      </a:r>
                    </a:p>
                  </a:txBody>
                  <a:tcPr anchor="ctr" marT="8000" marB="8000" marL="28000" marR="28000">
                    <a:solidFill>
                      <a:srgbClr val="1C7293"/>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1050" b="1" i="0">
                          <a:solidFill>
                            <a:srgbClr val="FFFFFF"/>
                          </a:solidFill>
                          <a:latin typeface="Calibri"/>
                        </a:rPr>
                        <a:t>Bibliographic Title, Venue / Repository &amp; DOI / Official URL</a:t>
                      </a:r>
                    </a:p>
                  </a:txBody>
                  <a:tcPr anchor="ctr" marT="8000" marB="8000" marL="28000" marR="28000">
                    <a:solidFill>
                      <a:srgbClr val="1C7293"/>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[6]</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Malkov, Y. A., &amp; Yashunin, D. A. (2020)
[Peer-Reviewed — HNSW]</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Malkov, Y. A., &amp; Yashunin, D. A. (2020). Efficient and Robust Approximate Nearest Neighbor Search Using Hierarchical Navigable Small World Graphs. IEEE Transactions on Pattern Analysis and Machine Intelligence, 42(4), 824–836. DOI: 10.1109/TPAMI.2018.2889473.</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[7]</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Jégou, H., Douze, M., &amp; Schmid, C. (2011)
[Peer-Reviewed — PQ]</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Jégou, H., Douze, M., &amp; Schmid, C. (2011). Product Quantization for Nearest Neighbor Search. IEEE Transactions on Pattern Analysis and Machine Intelligence, 33(1), 117–128. DOI: 10.1109/TPAMI.2010.57.</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[8]</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Guo, R., Sun, P., Lindgren, E., et al. (2020)
[Peer-Reviewed — Anisotropic VQ]</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Guo, R., et al. (2020). Accelerating Large-Scale Inference with Anisotropic Vector Quantization. Proc. 37th ICML, PMLR 119, 3887–3896. URL: https://proceedings.mlr.press/v119/guo20h.html</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[9]</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Aumüller, M., Bernhardsson, E., &amp;
Faithfull, A. (2020) [ANN-Benchmarks]</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Aumüller, M., Bernhardsson, E., &amp; Faithfull, A. (2020). ANN-Benchmarks: A Benchmarking Tool for Approximate Nearest Neighbor Algorithms. Information Systems, 87, 101374. DOI: 10.1016/j.is.2019.02.006.</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[10]</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Lewis, P., Perez, E., Piktus, A., et al. (2020)
[Peer-Reviewed — RAG]</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Lewis, P., et al. (2020). Retrieval-Augmented Generation for Knowledge-Intensive NLP Tasks. NeurIPS, 33, 9459–9474. URL: https://proceedings.neurips.cc/paper/2020/hash/6b493230205f780e1bc26945df7481e5-Abstract.html</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[1]</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PostgreSQL Global Dev Group
[Official Documentation]</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PostgreSQL 18 Documentation: Chapter 66 — Database Physical Storage, Section 66.2 — TOAST. URL: https://www.postgresql.org/docs/18/storage-toast.html</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[2]</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Kane, A., &amp; pgvector Contributors
[Vector Extension]</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pgvector: Open-source vector similarity search for Postgres (v0.8.4: vector &amp; halfvec HNSW). URL: https://github.com/pgvector/pgvector</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[3]</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Microsoft MS MARCO Corpus
[via BeIR / Hugging Face]</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Microsoft Machine Reading Comprehension (MS MARCO) passage corpus, accessed via the BeIR/msmarco dataset source on Hugging Face Datasets. URL: https://huggingface.co/datasets/BeIR/msmarco</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r>
              <a:tr h="369916">
                <a:tc>
                  <a:txBody>
                    <a:bodyPr/>
                    <a:lstStyle/>
                    <a:p>
                      <a:pPr algn="ctr">
                        <a:spcBef>
                          <a:spcPts val="0"/>
                        </a:spcBef>
                        <a:spcAft>
                          <a:spcPts val="0"/>
                        </a:spcAft>
                      </a:pPr>
                      <a:r>
                        <a:rPr sz="960" b="1" i="0">
                          <a:solidFill>
                            <a:srgbClr val="FFFFFF"/>
                          </a:solidFill>
                          <a:latin typeface="Calibri"/>
                        </a:rPr>
                        <a:t>[4]</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Ollama &amp; Nomic AI
[Embedding Runtime]</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Ollama local model runtime serving nomic-embed-text (768-dimensional dense embedding model). URL: https://ollama.com</a:t>
                      </a:r>
                    </a:p>
                  </a:txBody>
                  <a:tcPr anchor="ctr" marT="8000" marB="8000" marL="28000" marR="28000">
                    <a:solidFill>
                      <a:srgbClr val="28336A"/>
                    </a:solidFill>
                    <a:lnT w="6350" cap="flat" cmpd="sng" algn="ctr">
                      <a:solidFill>
                        <a:srgbClr val="3B4A8B"/>
                      </a:solidFill>
                    </a:lnT>
                    <a:lnB w="6350" cap="flat" cmpd="sng" algn="ctr">
                      <a:solidFill>
                        <a:srgbClr val="3B4A8B"/>
                      </a:solidFill>
                    </a:lnB>
                    <a:lnL w="0">
                      <a:noFill/>
                    </a:lnL>
                    <a:lnR w="0">
                      <a:noFill/>
                    </a:lnR>
                  </a:tcPr>
                </a:tc>
              </a:tr>
              <a:tr h="369920">
                <a:tc>
                  <a:txBody>
                    <a:bodyPr/>
                    <a:lstStyle/>
                    <a:p>
                      <a:pPr algn="ctr">
                        <a:spcBef>
                          <a:spcPts val="0"/>
                        </a:spcBef>
                        <a:spcAft>
                          <a:spcPts val="0"/>
                        </a:spcAft>
                      </a:pPr>
                      <a:r>
                        <a:rPr sz="960" b="1" i="0">
                          <a:solidFill>
                            <a:srgbClr val="FFFFFF"/>
                          </a:solidFill>
                          <a:latin typeface="Calibri"/>
                        </a:rPr>
                        <a:t>[5]</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Pradhan, Y., &amp; Pandey, A. (2026)
[Project Codebase &amp; Archive]</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c>
                  <a:txBody>
                    <a:bodyPr/>
                    <a:lstStyle/>
                    <a:p>
                      <a:pPr algn="l">
                        <a:spcBef>
                          <a:spcPts val="0"/>
                        </a:spcBef>
                        <a:spcAft>
                          <a:spcPts val="0"/>
                        </a:spcAft>
                      </a:pPr>
                      <a:r>
                        <a:rPr sz="960" b="0" i="0">
                          <a:solidFill>
                            <a:srgbClr val="FFFFFF"/>
                          </a:solidFill>
                          <a:latin typeface="Calibri"/>
                        </a:rPr>
                        <a:t>Compression-Aware Vector Database Indexing for RAG: Benchmark Codebase &amp; Archive (BCSE302P, VIT Vellore). URL: https://github.com/yoswinner/CompressionAwareRag.git</a:t>
                      </a:r>
                    </a:p>
                  </a:txBody>
                  <a:tcPr anchor="ctr" marT="8000" marB="8000" marL="28000" marR="28000">
                    <a:solidFill>
                      <a:srgbClr val="1E2652"/>
                    </a:solidFill>
                    <a:lnT w="6350" cap="flat" cmpd="sng" algn="ctr">
                      <a:solidFill>
                        <a:srgbClr val="3B4A8B"/>
                      </a:solidFill>
                    </a:lnT>
                    <a:lnB w="6350" cap="flat" cmpd="sng" algn="ctr">
                      <a:solidFill>
                        <a:srgbClr val="3B4A8B"/>
                      </a:solidFill>
                    </a:lnB>
                    <a:lnL w="0">
                      <a:noFill/>
                    </a:lnL>
                    <a:lnR w="0">
                      <a:noFill/>
                    </a:lnR>
                  </a:tcPr>
                </a:tc>
              </a:tr>
            </a:tbl>
          </a:graphicData>
        </a:graphic>
      </p:graphicFrame>
      <p:sp>
        <p:nvSpPr>
          <p:cNvPr id="5" name="TextBox 4"/>
          <p:cNvSpPr txBox="1"/>
          <p:nvPr/>
        </p:nvSpPr>
        <p:spPr>
          <a:xfrm>
            <a:off x="640080" y="6400800"/>
            <a:ext cx="10908792" cy="256032"/>
          </a:xfrm>
          <a:prstGeom prst="rect">
            <a:avLst/>
          </a:prstGeom>
          <a:noFill/>
        </p:spPr>
        <p:txBody>
          <a:bodyPr wrap="square" anchor="t" lIns="0" tIns="0" rIns="0" bIns="0">
            <a:spAutoFit/>
          </a:bodyPr>
          <a:lstStyle/>
          <a:p>
            <a:pPr algn="r"/>
            <a:r>
              <a:rPr sz="1050" b="1" i="0">
                <a:solidFill>
                  <a:srgbClr val="CADCFC"/>
                </a:solidFill>
                <a:latin typeface="Calibri"/>
              </a:rPr>
              <a:t>BCSE302P Final Viva  ·  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