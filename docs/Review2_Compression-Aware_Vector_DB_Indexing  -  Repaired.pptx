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92" d="100"/>
          <a:sy n="92" d="100"/>
        </p:scale>
        <p:origin x="2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Retrieval Latency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Exact Search</c:v>
                </c:pt>
                <c:pt idx="1">
                  <c:v>HNSW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9.1017000000000001E-2</c:v>
                </c:pt>
                <c:pt idx="1">
                  <c:v>6.3926999999999998E-2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66-4AEB-A9FA-5124159A9F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Latency (s)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Exact Search</c:v>
                </c:pt>
                <c:pt idx="1">
                  <c:v>HNSW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8.6294999999999997E-2</c:v>
                </c:pt>
                <c:pt idx="1">
                  <c:v>5.3189E-2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66-4AEB-A9FA-5124159A9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2"/>
                    </a:solidFill>
                    <a:latin typeface="Arial"/>
                  </a:rPr>
                  <a:t>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155680" y="42062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Compression-Aware Vector Database Indexing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Memory-Efficient and Low-Latency Retrieval-Augmented Generation (RAG)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Pradhan </a:t>
            </a:r>
            <a:r>
              <a:rPr lang="en-US" sz="14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Anjini Pandey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and Engineering  ·  Vellore Institute of Technology, Vellore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retrieval-augmented generation runs into trouble at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face bottlenecks in vector retrieval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knowledge bases grow, storing and searching millions of high-dimensional embeddings becomes expensive in both memory footprint and query latency.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four-way trade-off has to be balanced simultaneously: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31620" y="3566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proj/icons/white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554" y="3727094"/>
            <a:ext cx="409651" cy="4096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480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87375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needed to hold the vector index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324612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302252" y="3566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roj/icons/white_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86" y="372709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4480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93592" y="487375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footprint of raw embeddings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324612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072884" y="3566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proj/icons/white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818" y="372709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4480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64224" y="487375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retrieved top-K results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51976" y="324612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843516" y="3566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proj/icons/white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4450" y="3727094"/>
            <a:ext cx="409651" cy="4096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4480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134856" y="487375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each retrieval query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roj/icons/white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9796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97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324612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techniques (Scalar / Product Quantization) promise large memory savings, but their effect on Recall@K in a RAG pipeline is rarely measured against a rigorous, isolated baseline.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67512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proj/icons/white_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19796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675120" y="32461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 benchmarking foundation that can accurately and reproducibly measure the trade-offs between memory, latency, and Recall@K — before compression is introduced.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 — Full 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56032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60120" y="9692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(Review 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005840"/>
            <a:ext cx="256032" cy="256032"/>
          </a:xfrm>
          <a:prstGeom prst="rect">
            <a:avLst/>
          </a:prstGeom>
          <a:solidFill>
            <a:srgbClr val="C9CED4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11880" y="969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MARCO subset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(BeIR)</a:t>
            </a:r>
            <a:endParaRPr lang="en-US" sz="950" dirty="0"/>
          </a:p>
        </p:txBody>
      </p:sp>
      <p:pic>
        <p:nvPicPr>
          <p:cNvPr id="9" name="Image 0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979676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313432" y="16002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313432" y="160020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 / 50 overlap)</a:t>
            </a:r>
            <a:endParaRPr lang="en-US" sz="950" dirty="0"/>
          </a:p>
        </p:txBody>
      </p:sp>
      <p:pic>
        <p:nvPicPr>
          <p:cNvPr id="12" name="Image 1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7967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86784" y="16002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986784" y="160020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(Ollama, local)</a:t>
            </a:r>
            <a:endParaRPr lang="en-US" sz="950" dirty="0"/>
          </a:p>
        </p:txBody>
      </p:sp>
      <p:pic>
        <p:nvPicPr>
          <p:cNvPr id="15" name="Image 2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979676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0136" y="16002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660136" y="160020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40080" y="306324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640080" y="306324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50" dirty="0"/>
          </a:p>
        </p:txBody>
      </p:sp>
      <p:pic>
        <p:nvPicPr>
          <p:cNvPr id="20" name="Image 3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344271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2313432" y="306324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2313432" y="306324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KNN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Search</a:t>
            </a:r>
            <a:endParaRPr lang="en-US" sz="950" dirty="0"/>
          </a:p>
        </p:txBody>
      </p:sp>
      <p:pic>
        <p:nvPicPr>
          <p:cNvPr id="23" name="Image 4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442716"/>
            <a:ext cx="201168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986784" y="306324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/>
          <p:nvPr/>
        </p:nvSpPr>
        <p:spPr>
          <a:xfrm>
            <a:off x="3986784" y="306324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(Latency + Recall@K)</a:t>
            </a:r>
            <a:endParaRPr lang="en-US" sz="950" dirty="0"/>
          </a:p>
        </p:txBody>
      </p:sp>
      <p:pic>
        <p:nvPicPr>
          <p:cNvPr id="26" name="Image 5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42232" y="2679192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40080" y="452628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DEFF2"/>
          </a:solidFill>
          <a:ln w="15875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640080" y="452628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 / PQ / FP16)</a:t>
            </a:r>
            <a:endParaRPr lang="en-US" sz="950" dirty="0"/>
          </a:p>
        </p:txBody>
      </p:sp>
      <p:pic>
        <p:nvPicPr>
          <p:cNvPr id="29" name="Image 6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688" y="4905756"/>
            <a:ext cx="201168" cy="20116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2313432" y="452628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DEFF2"/>
          </a:solidFill>
          <a:ln w="15875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2313432" y="4526280"/>
            <a:ext cx="1417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Generation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 LLM)</a:t>
            </a:r>
            <a:endParaRPr lang="en-US" sz="950" dirty="0"/>
          </a:p>
        </p:txBody>
      </p:sp>
      <p:pic>
        <p:nvPicPr>
          <p:cNvPr id="32" name="Image 7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999232" y="4142232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and generation layers are explicitly Future Work — not implemented for Review 2.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Completed for Review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17904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1371600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schema design and initialization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596896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/home/claude/proj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340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53312" y="2450592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ingestion pipeline via REST API targeting BeIR/msmarco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3675888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/home/claude/proj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130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3529584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text chunking and preprocessing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/home/claude/proj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9204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3312" y="4608576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 integration with local Ollama (nomic-embed-text)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263640" y="1517904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4" descr="/home/claude/proj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55064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76872" y="1371600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Exact KNN vector search via cosine distance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263640" y="2596896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5" descr="/home/claude/proj/icons/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73405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76872" y="2450592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 search via configurable HNSW indexing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6263640" y="3675888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6" descr="/home/claude/proj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813048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76872" y="3529584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benchmarking framework warm-ups, repetitions, medians, strict latency isolation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263640" y="4754880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7" descr="/home/claude/proj/icons/flas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89204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76872" y="4608576"/>
            <a:ext cx="4617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suite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version-pinned and verified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75104" cy="210312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80160" y="2103120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roj/icons/white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2768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3.13.14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8064" y="1828800"/>
            <a:ext cx="1975104" cy="210312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38144" y="2103120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roj/icons/white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032" y="2256008"/>
            <a:ext cx="389169" cy="3891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89504" y="34290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56048" y="1828800"/>
            <a:ext cx="1975104" cy="210312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596128" y="2103120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roj/icons/whit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016" y="2256008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7488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47488" y="34290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0.8.4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114032" y="1828800"/>
            <a:ext cx="1975104" cy="210312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54112" y="2103120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roj/icons/white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000" y="2256008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05472" y="34290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0.32.13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272016" y="1828800"/>
            <a:ext cx="1975104" cy="210312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9912096" y="2103120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proj/icons/white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4984" y="2256008"/>
            <a:ext cx="389169" cy="3891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63456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363456" y="34290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08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Scale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40080" y="4663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31" name="Text 24"/>
          <p:cNvSpPr/>
          <p:nvPr/>
        </p:nvSpPr>
        <p:spPr>
          <a:xfrm>
            <a:off x="640080" y="5349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206240" y="4663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4000" dirty="0"/>
          </a:p>
        </p:txBody>
      </p:sp>
      <p:sp>
        <p:nvSpPr>
          <p:cNvPr id="33" name="Text 26"/>
          <p:cNvSpPr/>
          <p:nvPr/>
        </p:nvSpPr>
        <p:spPr>
          <a:xfrm>
            <a:off x="4206240" y="5349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/ vectors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772400" y="4663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4000" dirty="0"/>
          </a:p>
        </p:txBody>
      </p:sp>
      <p:sp>
        <p:nvSpPr>
          <p:cNvPr id="35" name="Text 28"/>
          <p:cNvSpPr/>
          <p:nvPr/>
        </p:nvSpPr>
        <p:spPr>
          <a:xfrm>
            <a:off x="7772400" y="5349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457200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9224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document_chunks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2084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423160"/>
            <a:ext cx="5029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2084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  →  documents(id)  [ON DELETE CASCADE]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880360"/>
            <a:ext cx="502920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chunk_index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2084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794760"/>
            <a:ext cx="502920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2084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  vector(768)</a:t>
            </a:r>
            <a:endParaRPr lang="en-US" sz="1200" dirty="0"/>
          </a:p>
        </p:txBody>
      </p:sp>
      <p:pic>
        <p:nvPicPr>
          <p:cNvPr id="23" name="Image 0" descr="/home/claude/proj/icons/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880360"/>
            <a:ext cx="960120" cy="3200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9224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1" descr="/home/claude/proj/icons/white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68630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40880" y="45537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UNIQUE(document_id, chunk_index)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492240" y="5166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2" descr="/home/claude/proj/icons/whit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528066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040880" y="51480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on embedding using vector_cosine_ops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Embedding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943100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roj/icons/white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266" y="20596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33375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BeIR / msmarco subset,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via the Hugging Face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Server API (REST)</a:t>
            </a:r>
            <a:endParaRPr lang="en-US" sz="1200" dirty="0"/>
          </a:p>
        </p:txBody>
      </p:sp>
      <p:pic>
        <p:nvPicPr>
          <p:cNvPr id="8" name="Image 1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299008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89120" y="155448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692140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proj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0802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709160" y="33375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character-based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chunk_size = 300,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= 50</a:t>
            </a:r>
            <a:endParaRPr lang="en-US" sz="1200" dirty="0"/>
          </a:p>
        </p:txBody>
      </p:sp>
      <p:pic>
        <p:nvPicPr>
          <p:cNvPr id="14" name="Image 3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99008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138160" y="155448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0"/>
          <p:cNvSpPr/>
          <p:nvPr/>
        </p:nvSpPr>
        <p:spPr>
          <a:xfrm>
            <a:off x="9441180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/home/claude/proj/icons/white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6346" y="2059686"/>
            <a:ext cx="452628" cy="4526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3816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458200" y="33375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via local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768-dimensional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controlled, strictly non-fabricated subset — 100 raw documents → 180 chunks/vectors, ready for indexing.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Search vs. HNSW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retrieval strategies, compared on equal footing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roj/icons/white_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20610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KNN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9718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cosine distance against every vector — guarantees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recall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used as the mathematical baseline to measure accuracy loss elsewhere.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4297680"/>
            <a:ext cx="4480560" cy="0"/>
          </a:xfrm>
          <a:prstGeom prst="line">
            <a:avLst/>
          </a:prstGeom>
          <a:noFill/>
          <a:ln w="12700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0584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 &lt;=&gt;  (cosine distance operator)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proj/icons/whit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938" y="206105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49808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67512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ANN index prioritizing low latency, configured and tested with: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75120" y="3657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667512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66760" y="3657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836676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ef_construction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0058400" y="3657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1005840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ef_search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675120" y="4572000"/>
            <a:ext cx="4480560" cy="0"/>
          </a:xfrm>
          <a:prstGeom prst="line">
            <a:avLst/>
          </a:prstGeom>
          <a:noFill/>
          <a:ln w="12700">
            <a:solidFill>
              <a:srgbClr val="3A43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675120" y="4709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on identical hardware, data, and queries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isolation: query-embedding generation (0.22s) is measured and excluded — only database retrieval time is timed.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repeatable benchmark conditions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7373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25112" y="190195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25112" y="2788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/ vectors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0144" y="17373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10144" y="190195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10144" y="2788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7764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36118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25112" y="37764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25112" y="4663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runs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0144" y="36118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10144" y="37764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10144" y="4663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 excluded from timing — query embeddings pre-generated in 0.22s, fully isolated from DB retrieval metrics.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 ·  m = 16, ef_construction = 64, ef_search = 40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54480"/>
          <a:ext cx="466344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(K=3)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0" y="3749040"/>
            <a:ext cx="4663440" cy="1737360"/>
          </a:xfrm>
          <a:prstGeom prst="roundRect">
            <a:avLst>
              <a:gd name="adj" fmla="val 473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7132320" y="39319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93.33%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9144000" y="404164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Recall@3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100% exact ground truth)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132320" y="48463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cut median latency by ~38% relative to exact search, while retaining 93.33% recall.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108960" cy="3840480"/>
          </a:xfrm>
          <a:prstGeom prst="roundRect">
            <a:avLst>
              <a:gd name="adj" fmla="val 294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0" y="1783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roj/icons/whit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34" y="194401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 ·  0 failures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Covered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0" y="2057400"/>
            <a:ext cx="384048" cy="384048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211" y="2143811"/>
            <a:ext cx="211226" cy="2112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0116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establishment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14800" y="2679192"/>
            <a:ext cx="384048" cy="384048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211" y="2765603"/>
            <a:ext cx="211226" cy="2112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63347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dimensionality validation (768)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114800" y="3300984"/>
            <a:ext cx="384048" cy="384048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home/claude/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211" y="3387395"/>
            <a:ext cx="211226" cy="2112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09160" y="3255264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logic determinism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114800" y="3922776"/>
            <a:ext cx="384048" cy="384048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/home/claude/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211" y="4009187"/>
            <a:ext cx="211226" cy="2112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09160" y="387705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Insertion, Exact Search, and HNSW index verification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114800" y="4544568"/>
            <a:ext cx="384048" cy="384048"/>
          </a:xfrm>
          <a:prstGeom prst="ellipse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5" descr="/home/claude/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211" y="4630979"/>
            <a:ext cx="211226" cy="2112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709160" y="44988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calculation math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Progress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264408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Complete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proj/icons/whit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974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57860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337560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schema, ingestion, chunking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4005072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KNN &amp; HNSW indexing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361688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benchmarking framework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718304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5112" y="228600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599432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/home/claude/proj/icons/white_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6974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5232" y="257860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99432" y="3337560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on scaled-up datasets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10144" y="228600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4F7F9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8284464" y="2560320"/>
            <a:ext cx="548640" cy="548640"/>
          </a:xfrm>
          <a:prstGeom prst="ellipse">
            <a:avLst/>
          </a:prstGeom>
          <a:solidFill>
            <a:srgbClr val="D8DCE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/home/claude/proj/icons/r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6974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70264" y="2578608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284464" y="3337560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&amp; Product Quantization (SQ / PQ)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284464" y="4005072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Reduced-precision FP16 / INT8 representations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84464" y="4672584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generation layer (Qwen)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84464" y="5340096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indexing based on data scale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Memory-Efficient and Low-Latency RAG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Compression-Aware Vector Database Indexing for RAG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961</Words>
  <Application>Microsoft Office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ANJINI PANDEY</dc:creator>
  <cp:lastModifiedBy>Anjini Pandey</cp:lastModifiedBy>
  <cp:revision>2</cp:revision>
  <dcterms:modified xsi:type="dcterms:W3CDTF">2026-08-23T18:12:23Z</dcterms:modified>
</cp:coreProperties>
</file>